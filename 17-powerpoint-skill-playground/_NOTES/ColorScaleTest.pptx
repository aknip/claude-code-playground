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notesMasterIdLst>
    <p:notesMasterId r:id="rId12"/>
  </p:notesMasterIdLst>
  <p:sldIdLst>
    <p:sldId id="450" r:id="rId2"/>
    <p:sldId id="259" r:id="rId3"/>
    <p:sldId id="260" r:id="rId4"/>
    <p:sldId id="2147327706" r:id="rId5"/>
    <p:sldId id="482" r:id="rId6"/>
    <p:sldId id="464" r:id="rId7"/>
    <p:sldId id="2147327707" r:id="rId8"/>
    <p:sldId id="475" r:id="rId9"/>
    <p:sldId id="478" r:id="rId10"/>
    <p:sldId id="262" r:id="rId11"/>
  </p:sldIdLst>
  <p:sldSz cx="12192000" cy="6858000"/>
  <p:notesSz cx="6858000" cy="9144000"/>
  <p:embeddedFontLst>
    <p:embeddedFont>
      <p:font typeface="Roboto" panose="02000000000000000000" pitchFamily="2" charset="0"/>
      <p:regular r:id="rId13"/>
      <p:bold r:id="rId14"/>
      <p:italic r:id="rId15"/>
      <p:boldItalic r:id="rId16"/>
    </p:embeddedFont>
    <p:embeddedFont>
      <p:font typeface="Roboto Black" panose="02000000000000000000" pitchFamily="2" charset="0"/>
      <p:bold r:id="rId17"/>
      <p:italic r:id="rId18"/>
      <p:boldItalic r:id="rId19"/>
    </p:embeddedFont>
  </p:embeddedFontLst>
  <p:defaultTextStyle>
    <a:defPPr>
      <a:defRPr lang="de-DE"/>
    </a:defPPr>
    <a:lvl1pPr marL="180975" indent="-180975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360000" indent="-180000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540000" indent="-180000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720000" indent="-179388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900000" indent="-180975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5146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9718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4290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8862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6843"/>
    <a:srgbClr val="DD5A44"/>
    <a:srgbClr val="B2330A"/>
    <a:srgbClr val="FFBACC"/>
    <a:srgbClr val="FFE0EC"/>
    <a:srgbClr val="CE50A9"/>
    <a:srgbClr val="000000"/>
    <a:srgbClr val="F7DD6B"/>
    <a:srgbClr val="C6B67C"/>
    <a:srgbClr val="E3D0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89" autoAdjust="0"/>
    <p:restoredTop sz="96534"/>
  </p:normalViewPr>
  <p:slideViewPr>
    <p:cSldViewPr snapToGrid="0">
      <p:cViewPr varScale="1">
        <p:scale>
          <a:sx n="111" d="100"/>
          <a:sy n="111" d="100"/>
        </p:scale>
        <p:origin x="21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5852"/>
    </p:cViewPr>
  </p:sorterViewPr>
  <p:notesViewPr>
    <p:cSldViewPr snapToGrid="0">
      <p:cViewPr varScale="1">
        <p:scale>
          <a:sx n="97" d="100"/>
          <a:sy n="97" d="100"/>
        </p:scale>
        <p:origin x="397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9345B1-DE98-9444-B521-97D65F2AE574}" type="datetimeFigureOut">
              <a:t>09.03.26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2815C-8F25-FB4E-9113-C31DBF85D55C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8113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9E76539-A55F-8733-56BB-D7FF3CEBB7FE}"/>
              </a:ext>
            </a:extLst>
          </p:cNvPr>
          <p:cNvSpPr/>
          <p:nvPr userDrawn="1"/>
        </p:nvSpPr>
        <p:spPr>
          <a:xfrm>
            <a:off x="10424160" y="250257"/>
            <a:ext cx="941420" cy="3465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 dirty="0">
              <a:latin typeface="Roboto" panose="02000000000000000000" pitchFamily="2" charset="0"/>
            </a:endParaRPr>
          </a:p>
        </p:txBody>
      </p:sp>
      <p:sp>
        <p:nvSpPr>
          <p:cNvPr id="4" name="Textplatzhalter 21">
            <a:extLst>
              <a:ext uri="{FF2B5EF4-FFF2-40B4-BE49-F238E27FC236}">
                <a16:creationId xmlns:a16="http://schemas.microsoft.com/office/drawing/2014/main" id="{4C7E215F-9A03-83E7-DEFF-17F70EA0A20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828776" y="6396073"/>
            <a:ext cx="1536804" cy="155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None/>
              <a:defRPr sz="900" b="0" i="0" baseline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1pPr>
            <a:lvl2pPr marL="644400" indent="-28440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sz="1200" b="0" i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2pPr>
            <a:lvl3pPr marL="1004400" indent="-28575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lang="de-DE" sz="1200" b="0" i="0" dirty="0" smtClean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3pPr>
            <a:lvl4pPr marL="1364400" indent="-28575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lang="de-DE" sz="1200" b="0" i="0" dirty="0" smtClean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4pPr>
            <a:lvl5pPr marL="1724400" indent="-28575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lang="de-DE" sz="1200" b="0" i="0" dirty="0" smtClean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5pPr>
            <a:lvl6pPr marL="23415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7987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2559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7131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r"/>
            <a:r>
              <a:rPr lang="de-DE" sz="600" b="0" i="0" kern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Innovation Implemented.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8C1AD748-269B-A6F1-E47D-C2417F82AA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34451" y="4804908"/>
            <a:ext cx="9482727" cy="240348"/>
          </a:xfrm>
        </p:spPr>
        <p:txBody>
          <a:bodyPr anchor="t"/>
          <a:lstStyle>
            <a:lvl1pPr marL="0" indent="0">
              <a:buNone/>
              <a:defRPr sz="1600" b="0" i="0" cap="none" spc="2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782F3969-4D5C-BE17-F6D5-8113D4477B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34451" y="5351254"/>
            <a:ext cx="9482727" cy="838231"/>
          </a:xfrm>
        </p:spPr>
        <p:txBody>
          <a:bodyPr anchor="t"/>
          <a:lstStyle>
            <a:lvl1pPr marL="0" indent="0">
              <a:buNone/>
              <a:defRPr sz="1000" b="0" i="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Name Vortragende</a:t>
            </a:r>
            <a:br>
              <a:rPr lang="de-DE" dirty="0"/>
            </a:br>
            <a:r>
              <a:rPr lang="de-DE" dirty="0"/>
              <a:t>Name Vortragender</a:t>
            </a:r>
            <a:br>
              <a:rPr lang="de-DE" dirty="0"/>
            </a:br>
            <a:r>
              <a:rPr lang="de-DE" dirty="0"/>
              <a:t>Ort, Datum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D5D18FD-9399-C365-234D-791B26B6E3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4256668"/>
            <a:ext cx="9488214" cy="467706"/>
          </a:xfrm>
        </p:spPr>
        <p:txBody>
          <a:bodyPr vert="horz" anchor="b" anchorCtr="0"/>
          <a:lstStyle>
            <a:lvl1pPr>
              <a:defRPr sz="3200" b="1" i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Präsentationstitel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EA54F90-7B0C-C8D3-29BB-E79494DEF97F}"/>
              </a:ext>
            </a:extLst>
          </p:cNvPr>
          <p:cNvSpPr txBox="1"/>
          <p:nvPr userDrawn="1"/>
        </p:nvSpPr>
        <p:spPr>
          <a:xfrm>
            <a:off x="3530008" y="5762847"/>
            <a:ext cx="45719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endParaRPr lang="de-DE" b="0" i="0" dirty="0">
              <a:latin typeface="Roboto" panose="02000000000000000000" pitchFamily="2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A6678F4-0D7C-E90A-841C-8AAA20005F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6615657"/>
            <a:ext cx="12192000" cy="242343"/>
          </a:xfrm>
          <a:prstGeom prst="rect">
            <a:avLst/>
          </a:prstGeom>
        </p:spPr>
      </p:pic>
      <p:sp>
        <p:nvSpPr>
          <p:cNvPr id="28" name="Inhaltsplatzhalter 27">
            <a:extLst>
              <a:ext uri="{FF2B5EF4-FFF2-40B4-BE49-F238E27FC236}">
                <a16:creationId xmlns:a16="http://schemas.microsoft.com/office/drawing/2014/main" id="{75892F98-DB25-1B04-EF56-86C191E42B5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1" y="4084519"/>
            <a:ext cx="9489604" cy="146749"/>
          </a:xfrm>
        </p:spPr>
        <p:txBody>
          <a:bodyPr lIns="0" tIns="0" rIns="0" bIns="0" anchor="t"/>
          <a:lstStyle>
            <a:lvl1pPr marL="0" indent="0">
              <a:buNone/>
              <a:defRPr lang="de-DE" sz="1000" baseline="0"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>
              <a:spcAft>
                <a:spcPts val="0"/>
              </a:spcAft>
            </a:pPr>
            <a:r>
              <a:rPr lang="de-DE" dirty="0"/>
              <a:t>Topheadline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E1C7FB8-0706-0DBE-7C9B-57732C8CDD7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88398" y="499913"/>
            <a:ext cx="1440000" cy="51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134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D81911-8CD2-DAE6-A7A2-C2E850065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176" y="657285"/>
            <a:ext cx="9516024" cy="792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A4876F-F936-A50D-8F09-90B3D8329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176" y="2060848"/>
            <a:ext cx="9516024" cy="4212952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0057F1C-2385-6F1E-FFA1-243CAC9E087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4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79860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4278B3BF-B3AD-FA19-A082-03FD2603C9EA}"/>
              </a:ext>
            </a:extLst>
          </p:cNvPr>
          <p:cNvSpPr/>
          <p:nvPr userDrawn="1"/>
        </p:nvSpPr>
        <p:spPr>
          <a:xfrm>
            <a:off x="0" y="2060848"/>
            <a:ext cx="12192000" cy="4906237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7065F91-412A-7834-F589-04E6F5ABA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176" y="657285"/>
            <a:ext cx="9516024" cy="79200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CDDC7598-E0BA-DDA8-A831-A5E1A437A6B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4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7375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8D904CB-06BF-149E-BEFD-780E6DB1495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DD81911-8CD2-DAE6-A7A2-C2E8500650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19176" y="657285"/>
            <a:ext cx="9516024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Agenda durch Klicken bearbeiten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A4876F-F936-A50D-8F09-90B3D83298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19176" y="2060848"/>
            <a:ext cx="9516024" cy="4212952"/>
          </a:xfrm>
        </p:spPr>
        <p:txBody>
          <a:bodyPr/>
          <a:lstStyle>
            <a:lvl1pPr marL="34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2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70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883512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1061925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err="1"/>
              <a:t>Introduction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0057F1C-2385-6F1E-FFA1-243CAC9E087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4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solidFill>
                  <a:schemeClr val="bg1"/>
                </a:solidFill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0D07B19-3F5D-63D8-9046-3FCED0E2AD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023588D0-9E8B-EBEE-90E1-FAD56574499D}"/>
              </a:ext>
            </a:extLst>
          </p:cNvPr>
          <p:cNvSpPr txBox="1"/>
          <p:nvPr userDrawn="1"/>
        </p:nvSpPr>
        <p:spPr>
          <a:xfrm>
            <a:off x="7498080" y="73266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endParaRPr lang="de-DE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057056FF-74D1-1D34-0D95-CDCBA6BF1542}"/>
              </a:ext>
            </a:extLst>
          </p:cNvPr>
          <p:cNvGrpSpPr/>
          <p:nvPr userDrawn="1"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0D9643B-3D84-AB93-4562-8A57ACDF759A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A9610011-D6FD-EB89-25FA-2C292A65732B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734328F4-17C1-8693-A15A-570EB469A2CA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06BC278E-967B-E194-DD96-7FFA4F3E1721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6371A96F-0B14-9EDA-CE09-791205E76EB0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6B077F12-2EED-7F97-7B0F-CB9FFCC5F0F5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946BD466-6D9C-9ADC-794C-971607531063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5FCA0E16-4CDA-CD68-8210-1B3B6A274783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9438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D96EF3A-016B-FDFB-9078-5C8C0906C76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75DADB3F-B952-1B72-EA1A-D4AB16137F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3347070"/>
            <a:ext cx="9501934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Agenda durch Klicken bearbeiten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247E1C4-F082-43D9-52E8-A7E6867D894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28800" y="4285464"/>
            <a:ext cx="9501934" cy="1816886"/>
          </a:xfrm>
        </p:spPr>
        <p:txBody>
          <a:bodyPr/>
          <a:lstStyle>
            <a:lvl1pPr marL="34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2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70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883512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1061925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err="1"/>
              <a:t>Introduction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de-DE" dirty="0"/>
          </a:p>
        </p:txBody>
      </p:sp>
      <p:sp>
        <p:nvSpPr>
          <p:cNvPr id="29" name="Inhaltsplatzhalter 5">
            <a:extLst>
              <a:ext uri="{FF2B5EF4-FFF2-40B4-BE49-F238E27FC236}">
                <a16:creationId xmlns:a16="http://schemas.microsoft.com/office/drawing/2014/main" id="{1C683C6A-43DB-0EC6-4D0A-BAB34B601AF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5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solidFill>
                  <a:schemeClr val="bg1"/>
                </a:solidFill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A521FDC6-A303-5E71-3406-E967687D535B}"/>
              </a:ext>
            </a:extLst>
          </p:cNvPr>
          <p:cNvGrpSpPr/>
          <p:nvPr userDrawn="1"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77B72CCE-473E-35F5-BE52-1DD204BA6908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456F7CD0-BDDD-C8B1-BF87-291A6100728A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66ABE10F-8167-1E5C-6159-B57135739062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08DFCE2A-2C98-8C08-5273-439CBCE446F7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11CB8D3F-3599-63F2-696D-16F36617B0FF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7CD263AF-CF1E-376D-2159-73191B4D98B8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D9F7CD19-C4CE-08A1-ECFD-ECD53C28B36D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BF4ED99D-2C70-6C17-FFE1-37099372FEC9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3" name="Grafik 2">
            <a:extLst>
              <a:ext uri="{FF2B5EF4-FFF2-40B4-BE49-F238E27FC236}">
                <a16:creationId xmlns:a16="http://schemas.microsoft.com/office/drawing/2014/main" id="{5998F7A5-AAED-1D27-FFBA-EAD8917011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777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4569E470-1313-7BE3-4726-DE5C84CDC4B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9B1477F-B1C6-B12C-5DE7-7181E952F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4323560"/>
            <a:ext cx="9501934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27" name="Inhaltsplatzhalter 5">
            <a:extLst>
              <a:ext uri="{FF2B5EF4-FFF2-40B4-BE49-F238E27FC236}">
                <a16:creationId xmlns:a16="http://schemas.microsoft.com/office/drawing/2014/main" id="{A90EC96C-A5AD-35FA-2E52-0FEB4BF22E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5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solidFill>
                  <a:schemeClr val="bg1"/>
                </a:solidFill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706AEDA-9DA7-A0F3-7A4A-F6425640C82E}"/>
              </a:ext>
            </a:extLst>
          </p:cNvPr>
          <p:cNvGrpSpPr/>
          <p:nvPr userDrawn="1"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E00D61E5-BDBB-C504-4830-B6626883B74D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92F6A1E0-49DC-34D9-7015-253F5721AC84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6047CDEA-DE65-6D68-58D6-9799AF11C335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0FED1D99-2B6C-3DAB-68F7-A5493FA74800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EA0A691E-3D6D-C372-74D0-4E2DA0D84F8D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B5F019BD-B7CD-FFA1-C968-4560AFC04230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9F6A5825-13AE-F685-A760-FF26031857E9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FB513CA7-6006-991D-24EA-C7573E5820C2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17" name="Grafik 16">
            <a:extLst>
              <a:ext uri="{FF2B5EF4-FFF2-40B4-BE49-F238E27FC236}">
                <a16:creationId xmlns:a16="http://schemas.microsoft.com/office/drawing/2014/main" id="{CD77409B-B8ED-6A5F-2D04-0F712F9D69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483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28801" y="657285"/>
            <a:ext cx="9513506" cy="79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30028" y="2060848"/>
            <a:ext cx="9513506" cy="42129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27FCEB4-3CF3-A3FF-76BB-A96F9554A0F7}"/>
              </a:ext>
            </a:extLst>
          </p:cNvPr>
          <p:cNvSpPr txBox="1"/>
          <p:nvPr userDrawn="1"/>
        </p:nvSpPr>
        <p:spPr>
          <a:xfrm rot="16200000">
            <a:off x="-1515830" y="4300252"/>
            <a:ext cx="3512719" cy="12082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18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Page: </a:t>
            </a:r>
            <a:fld id="{F10DCDC4-4595-B74E-8DBA-09DC9720EAE7}" type="slidenum">
              <a:rPr lang="de-DE" sz="700" b="0" i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pPr marL="0" marR="0" lvl="0" indent="0" algn="l" defTabSz="180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t>‹Nr.›</a:t>
            </a:fld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  </a:t>
            </a:r>
            <a:r>
              <a:rPr lang="de-DE" sz="9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|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 </a:t>
            </a:r>
            <a:fld id="{D1E5DAEC-660C-FA4F-97E2-A72D48222653}" type="datetime3">
              <a:rPr lang="de-DE" sz="700" b="0" i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pPr marL="0" marR="0" lvl="0" indent="0" algn="l" defTabSz="180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t>09/03/2026</a:t>
            </a:fld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 </a:t>
            </a:r>
            <a:r>
              <a:rPr lang="de-DE" sz="9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|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  </a:t>
            </a:r>
            <a:r>
              <a:rPr lang="de-DE" sz="700" b="0" i="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Confidentiality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</a:t>
            </a:r>
            <a:r>
              <a:rPr lang="de-DE" sz="700" b="0" i="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level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: </a:t>
            </a:r>
            <a:r>
              <a:rPr lang="de-DE" sz="700" b="0" i="0" u="none" strike="noStrike" dirty="0">
                <a:solidFill>
                  <a:schemeClr val="bg1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Internal</a:t>
            </a:r>
            <a:endParaRPr lang="de-DE" sz="700" b="0" i="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</a:endParaRPr>
          </a:p>
        </p:txBody>
      </p: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0F83F70B-B5DD-C68E-5926-CE7FA429C454}"/>
              </a:ext>
            </a:extLst>
          </p:cNvPr>
          <p:cNvGrpSpPr/>
          <p:nvPr userDrawn="1"/>
        </p:nvGrpSpPr>
        <p:grpSpPr>
          <a:xfrm>
            <a:off x="10013291" y="6283206"/>
            <a:ext cx="1342943" cy="32400"/>
            <a:chOff x="10117877" y="5760104"/>
            <a:chExt cx="1342943" cy="32400"/>
          </a:xfrm>
        </p:grpSpPr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D763D1BF-9B08-90BA-4F8C-01B6CB0533D3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40B7D466-F044-1E13-6818-3B1364AB4BF9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DF1CAB54-4009-B962-7476-5FB40B9C8A5F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5551AF9A-9C49-E5D3-7464-9C964026259A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B4C77E23-0B61-D024-1ACC-597FF9586421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50239498-8851-ACAA-4FB4-E5E2F9823AF8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90A40F38-6E8C-BDB6-10BC-F58509866F3A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60" name="Rechteck 59">
              <a:extLst>
                <a:ext uri="{FF2B5EF4-FFF2-40B4-BE49-F238E27FC236}">
                  <a16:creationId xmlns:a16="http://schemas.microsoft.com/office/drawing/2014/main" id="{0BF70B4A-DDCA-31E8-A2D7-60CEFC3C6E7A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6" name="Grafik 5">
            <a:extLst>
              <a:ext uri="{FF2B5EF4-FFF2-40B4-BE49-F238E27FC236}">
                <a16:creationId xmlns:a16="http://schemas.microsoft.com/office/drawing/2014/main" id="{14D6E508-ED0A-9042-EED4-27A51C8C1DE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50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7" r:id="rId4"/>
    <p:sldLayoutId id="2147483665" r:id="rId5"/>
    <p:sldLayoutId id="2147483666" r:id="rId6"/>
  </p:sldLayoutIdLst>
  <p:hf sldNum="0" hdr="0" ftr="0"/>
  <p:txStyles>
    <p:titleStyle>
      <a:lvl1pPr algn="l" defTabSz="180000" rtl="0" eaLnBrk="1" latinLnBrk="0" hangingPunct="1">
        <a:lnSpc>
          <a:spcPct val="90000"/>
        </a:lnSpc>
        <a:spcBef>
          <a:spcPct val="0"/>
        </a:spcBef>
        <a:buNone/>
        <a:defRPr sz="2400" b="1" i="0" kern="1200">
          <a:solidFill>
            <a:schemeClr val="tx1"/>
          </a:solidFill>
          <a:latin typeface="Roboto Black" panose="02000000000000000000" pitchFamily="2" charset="0"/>
          <a:ea typeface="Roboto Black" panose="02000000000000000000" pitchFamily="2" charset="0"/>
          <a:cs typeface="+mj-cs"/>
        </a:defRPr>
      </a:lvl1pPr>
    </p:titleStyle>
    <p:bodyStyle>
      <a:lvl1pPr marL="180975" indent="-180975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1pPr>
      <a:lvl2pPr marL="360000" indent="-180000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2pPr>
      <a:lvl3pPr marL="540000" indent="-180000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3pPr>
      <a:lvl4pPr marL="720000" indent="-179388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4pPr>
      <a:lvl5pPr marL="900000" indent="-180975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mgm-tp.com" TargetMode="External"/><Relationship Id="rId2" Type="http://schemas.openxmlformats.org/officeDocument/2006/relationships/hyperlink" Target="http://www.mgm-tp.com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D5F8A-AF82-DD95-AC7C-FAF8ADBF1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AD3E0DD0-0564-DFCF-162B-18067BA93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640" y="969519"/>
            <a:ext cx="3867946" cy="4212952"/>
          </a:xfrm>
          <a:solidFill>
            <a:schemeClr val="bg1"/>
          </a:solidFill>
        </p:spPr>
        <p:txBody>
          <a:bodyPr/>
          <a:lstStyle/>
          <a:p>
            <a:pPr marL="0" indent="0">
              <a:spcAft>
                <a:spcPts val="0"/>
              </a:spcAft>
              <a:buNone/>
            </a:pPr>
            <a:r>
              <a:rPr lang="de-DE" sz="1000"/>
              <a:t>Wir bieten:</a:t>
            </a:r>
          </a:p>
          <a:p>
            <a:pPr>
              <a:spcAft>
                <a:spcPts val="0"/>
              </a:spcAft>
            </a:pPr>
            <a:r>
              <a:rPr lang="de-DE" sz="1000"/>
              <a:t>Team, mit einzigartigem Industrieversicherungs- und Prozessknowhow (Underwriting, Processes, IT/AI)</a:t>
            </a:r>
          </a:p>
          <a:p>
            <a:pPr>
              <a:spcAft>
                <a:spcPts val="0"/>
              </a:spcAft>
            </a:pPr>
            <a:r>
              <a:rPr lang="de-DE" sz="1000"/>
              <a:t>Berücksichtigung der IST-Situation (Organisation und IT-Systeme)</a:t>
            </a:r>
          </a:p>
          <a:p>
            <a:pPr>
              <a:spcAft>
                <a:spcPts val="0"/>
              </a:spcAft>
            </a:pPr>
            <a:r>
              <a:rPr lang="de-DE" sz="1000"/>
              <a:t>Fachliche Konzeption eines maßgeschneiderten UWWB Konzepts (Arbeitsweise, Prozesse, Systeme) in 4 Wochen</a:t>
            </a:r>
          </a:p>
          <a:p>
            <a:pPr>
              <a:spcAft>
                <a:spcPts val="0"/>
              </a:spcAft>
            </a:pPr>
            <a:r>
              <a:rPr lang="de-DE" sz="1000"/>
              <a:t>Entwicklung und Übergabe eines funktionalen Prototypen in der von Ihnen gewünschten Technologie</a:t>
            </a:r>
          </a:p>
          <a:p>
            <a:pPr>
              <a:spcAft>
                <a:spcPts val="0"/>
              </a:spcAft>
            </a:pPr>
            <a:r>
              <a:rPr lang="de-DE" sz="1000"/>
              <a:t>Fertigstellung innerhalb von 4 Wochen</a:t>
            </a:r>
          </a:p>
          <a:p>
            <a:pPr>
              <a:spcAft>
                <a:spcPts val="0"/>
              </a:spcAft>
            </a:pPr>
            <a:r>
              <a:rPr lang="de-DE" sz="1000"/>
              <a:t>Bei vorliegender Daten in-house, konkrete Effizienzpotentiale für Ihr Haus.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/>
              <a:t> </a:t>
            </a:r>
          </a:p>
          <a:p>
            <a:pPr marL="0" indent="0">
              <a:spcAft>
                <a:spcPts val="0"/>
              </a:spcAft>
              <a:buNone/>
            </a:pPr>
            <a:endParaRPr lang="de-DE" sz="1000"/>
          </a:p>
          <a:p>
            <a:pPr marL="0" indent="0">
              <a:spcAft>
                <a:spcPts val="0"/>
              </a:spcAft>
              <a:buNone/>
            </a:pPr>
            <a:r>
              <a:rPr lang="de-DE" sz="1000"/>
              <a:t>Wir brauchen:</a:t>
            </a:r>
          </a:p>
          <a:p>
            <a:pPr>
              <a:spcAft>
                <a:spcPts val="0"/>
              </a:spcAft>
            </a:pPr>
            <a:r>
              <a:rPr lang="de-DE" sz="1000"/>
              <a:t>Zugriff auf Fachbereiche (UW je Sparte, Vertragsservice, Produktmanagement, Anwendungsentwicklung und IT-Architektur) in Summe 50-100 PT</a:t>
            </a:r>
          </a:p>
          <a:p>
            <a:pPr>
              <a:spcAft>
                <a:spcPts val="0"/>
              </a:spcAft>
            </a:pPr>
            <a:r>
              <a:rPr lang="de-DE" sz="1000"/>
              <a:t>Sponsor aus dem Vorstand (CUO, CIO, COO) für 4 Wochen, pro Tag 1h, Abschlusspräsentation vor dem Vorstand</a:t>
            </a:r>
          </a:p>
          <a:p>
            <a:pPr>
              <a:spcAft>
                <a:spcPts val="0"/>
              </a:spcAft>
            </a:pPr>
            <a:r>
              <a:rPr lang="de-DE" sz="1000"/>
              <a:t>Zugriff auf Systeme und Verzeichnisse</a:t>
            </a:r>
          </a:p>
          <a:p>
            <a:pPr>
              <a:spcAft>
                <a:spcPts val="0"/>
              </a:spcAft>
            </a:pPr>
            <a:r>
              <a:rPr lang="de-DE" sz="1000"/>
              <a:t>Beidseitige, strenge Vertraulichkeit</a:t>
            </a:r>
          </a:p>
          <a:p>
            <a:pPr marL="0" indent="0">
              <a:spcAft>
                <a:spcPts val="0"/>
              </a:spcAft>
              <a:buNone/>
            </a:pPr>
            <a:endParaRPr lang="de-DE" sz="1000"/>
          </a:p>
          <a:p>
            <a:pPr marL="0" indent="0">
              <a:spcAft>
                <a:spcPts val="0"/>
              </a:spcAft>
              <a:buNone/>
            </a:pPr>
            <a:r>
              <a:rPr lang="de-DE" sz="1000"/>
              <a:t> 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/>
              <a:t>Ihr Mehrwert, unser Versprechen</a:t>
            </a:r>
          </a:p>
          <a:p>
            <a:pPr>
              <a:spcAft>
                <a:spcPts val="0"/>
              </a:spcAft>
            </a:pPr>
            <a:r>
              <a:rPr lang="de-DE" sz="1000"/>
              <a:t>Dieser Arbeitsschritt: Unserer Einschätzung nach dauert die Planung und Konzeption einer UWWB in Versicherungsunternehmen mindestens 12 Monate und kostet 2-3 Mio. Euro (externe und interne Kosten). Wir reduzieren diesen Zeitraum auf 1 Monat und die Kosten um minds. 75%.</a:t>
            </a:r>
          </a:p>
          <a:p>
            <a:pPr>
              <a:spcAft>
                <a:spcPts val="0"/>
              </a:spcAft>
            </a:pPr>
            <a:r>
              <a:rPr lang="de-DE" sz="1000"/>
              <a:t>Nächster Arbeitsschritt: Unserer Einschätzung nach dauert die darauffolgende konkrete Projektplanung bis zu 1,5-Jahre. Mit unseren Projektergebnissen können Sie entweder unmittelbar Festpreisangebote von Anbietern anfragen oder Ihre interne Projektumsetzung starten.</a:t>
            </a:r>
          </a:p>
          <a:p>
            <a:pPr>
              <a:spcAft>
                <a:spcPts val="0"/>
              </a:spcAft>
            </a:pPr>
            <a:r>
              <a:rPr lang="de-DE" sz="1000"/>
              <a:t>Minimales Risiko (Kosten, Zeit, Ergebnis) für Ihr Unternehmen.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365EBA6-993D-11B7-C4BC-BB2014C3ADC3}"/>
              </a:ext>
            </a:extLst>
          </p:cNvPr>
          <p:cNvSpPr txBox="1"/>
          <p:nvPr/>
        </p:nvSpPr>
        <p:spPr>
          <a:xfrm>
            <a:off x="6094288" y="950497"/>
            <a:ext cx="6097712" cy="57861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de-DE" sz="1000" b="1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Underwriting Workbench — Konzept und Software in 4 Wochen</a:t>
            </a:r>
          </a:p>
          <a:p>
            <a:pPr algn="l">
              <a:spcAft>
                <a:spcPts val="0"/>
              </a:spcAft>
              <a:buNone/>
            </a:pPr>
            <a:endParaRPr lang="de-DE" sz="1000" b="1" i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algn="l">
              <a:spcAft>
                <a:spcPts val="0"/>
              </a:spcAft>
              <a:buNone/>
            </a:pPr>
            <a:r>
              <a:rPr lang="de-DE" sz="1000" b="1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I: Einstieg</a:t>
            </a:r>
          </a:p>
          <a:p>
            <a:pPr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000" b="1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Underwriting Workbench</a:t>
            </a:r>
            <a:r>
              <a:rPr lang="de-DE" sz="10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 — Konzept und </a:t>
            </a:r>
            <a:r>
              <a:rPr lang="de-DE" sz="1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Software</a:t>
            </a:r>
            <a:r>
              <a:rPr lang="de-DE" sz="10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in 4 Wochen</a:t>
            </a:r>
          </a:p>
          <a:p>
            <a:pPr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0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Jedes zweite UWWB-Projekt </a:t>
            </a:r>
            <a:r>
              <a:rPr lang="de-DE" sz="1000" b="1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scheitert.</a:t>
            </a:r>
            <a:endParaRPr lang="de-DE" sz="1000" b="0" i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0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Zu lang. Zu teuer. Zu komplex.</a:t>
            </a:r>
          </a:p>
          <a:p>
            <a:pPr marL="742950" lvl="1" indent="-285750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0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12+ Monate Planung. 2–3 Mio. Euro. Bevor die Umsetzung überhaupt beginnt.</a:t>
            </a:r>
          </a:p>
          <a:p>
            <a:pPr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000" b="1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Kostendruck</a:t>
            </a:r>
            <a:r>
              <a:rPr lang="de-DE" sz="10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 — Steigende Combined Ratios, sinkende Margen</a:t>
            </a:r>
          </a:p>
          <a:p>
            <a:pPr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000" b="1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Fachkräftemangel</a:t>
            </a:r>
            <a:r>
              <a:rPr lang="de-DE" sz="10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 — Erfahrene Underwriter gehen — Wissen geht mit</a:t>
            </a:r>
          </a:p>
          <a:p>
            <a:pPr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000" b="1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Medienbrüche</a:t>
            </a:r>
            <a:r>
              <a:rPr lang="de-DE" sz="10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 — Kein durchgängiger Workflow, verteilte Systeme</a:t>
            </a:r>
          </a:p>
          <a:p>
            <a:pPr algn="l">
              <a:spcAft>
                <a:spcPts val="0"/>
              </a:spcAft>
              <a:buNone/>
            </a:pPr>
            <a:endParaRPr lang="de-DE" sz="1000" b="1" i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algn="l">
              <a:spcAft>
                <a:spcPts val="0"/>
              </a:spcAft>
              <a:buNone/>
            </a:pPr>
            <a:r>
              <a:rPr lang="de-DE" sz="1000" b="1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II: Lösung</a:t>
            </a:r>
          </a:p>
          <a:p>
            <a:pPr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0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Was wäre, wenn die Konzeption nicht </a:t>
            </a:r>
            <a:r>
              <a:rPr lang="de-DE" sz="1000" b="1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12 Monate</a:t>
            </a:r>
            <a:r>
              <a:rPr lang="de-DE" sz="10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 dauert?</a:t>
            </a:r>
          </a:p>
          <a:p>
            <a:pPr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000" b="1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4 Wochen.</a:t>
            </a:r>
            <a:r>
              <a:rPr lang="de-DE" sz="10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 Ein fertiges UWWB-Konzept mit funktionalee </a:t>
            </a:r>
            <a:r>
              <a:rPr lang="de-DE" sz="1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Software</a:t>
            </a:r>
            <a:r>
              <a:rPr lang="de-DE" sz="10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.</a:t>
            </a:r>
          </a:p>
          <a:p>
            <a:pPr algn="l">
              <a:spcAft>
                <a:spcPts val="0"/>
              </a:spcAft>
              <a:buNone/>
            </a:pPr>
            <a:r>
              <a:rPr lang="de-DE" sz="1000" b="1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Akt II: Umsetzung — 3 Kernpunkte</a:t>
            </a:r>
          </a:p>
          <a:p>
            <a:pPr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000" b="1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Kernpunkt 1: Expertenteam mit UW-Erfahrung</a:t>
            </a:r>
            <a:endParaRPr lang="de-DE" sz="1000" b="0" i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742950" lvl="1" indent="-285750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0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Underwriting, Prozesse, IT/AI — aus der Branche, für die Branche</a:t>
            </a:r>
          </a:p>
          <a:p>
            <a:pPr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000" b="1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Kernpunkt 2: Maßgeschneidert auf Ihre Situation</a:t>
            </a:r>
            <a:endParaRPr lang="de-DE" sz="1000" b="0" i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742950" lvl="1" indent="-285750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0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IST-Analyse Ihrer Organisation, Prozesse und Systeme als Ausgangspunkt</a:t>
            </a:r>
          </a:p>
          <a:p>
            <a:pPr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000" b="1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Kernpunkt 3: Kein Papierkonzept. Funktionsfähige Software.</a:t>
            </a:r>
            <a:endParaRPr lang="de-DE" sz="1000" b="0" i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742950" lvl="1" indent="-285750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0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Funktional, in Ihrer Zieltechnologie, sofort anfassbar</a:t>
            </a:r>
          </a:p>
          <a:p>
            <a:pPr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000" b="1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Was wir brauchen:</a:t>
            </a:r>
            <a:endParaRPr lang="de-DE" sz="1000" b="0" i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742950" lvl="1" indent="-285750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0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50–100 PT Zugriff auf Ihre Fachbereiche</a:t>
            </a:r>
          </a:p>
          <a:p>
            <a:pPr marL="742950" lvl="1" indent="-285750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0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1 Sponsor aus dem Vorstand, 1h/Tag</a:t>
            </a:r>
          </a:p>
          <a:p>
            <a:pPr marL="742950" lvl="1" indent="-285750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0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Systemzugriff und beidseitige Vertraulichkeit</a:t>
            </a:r>
          </a:p>
          <a:p>
            <a:pPr algn="l">
              <a:spcAft>
                <a:spcPts val="0"/>
              </a:spcAft>
              <a:buNone/>
            </a:pPr>
            <a:endParaRPr lang="de-DE" sz="1000" b="1" i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algn="l">
              <a:spcAft>
                <a:spcPts val="0"/>
              </a:spcAft>
              <a:buNone/>
            </a:pPr>
            <a:r>
              <a:rPr lang="de-DE" sz="1000" b="1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III: Zusammenfassung</a:t>
            </a:r>
          </a:p>
          <a:p>
            <a:pPr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000" b="1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Konventionell vs. unser Ansatz</a:t>
            </a:r>
            <a:endParaRPr lang="de-DE" sz="1000" b="0" i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742950" lvl="1" indent="-285750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0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Dauer: 12+ Monate → 4 Wochen</a:t>
            </a:r>
          </a:p>
          <a:p>
            <a:pPr marL="742950" lvl="1" indent="-285750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0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Kosten: 2–3 Mio. → mind. 75% weniger</a:t>
            </a:r>
          </a:p>
          <a:p>
            <a:pPr marL="742950" lvl="1" indent="-285750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0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Ergebnis: Papierkonzept → Software</a:t>
            </a:r>
          </a:p>
          <a:p>
            <a:pPr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000" b="1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Danach:</a:t>
            </a:r>
            <a:r>
              <a:rPr lang="de-DE" sz="10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 Direkt Festpreisangebote anfragen oder internes Projekt starten.</a:t>
            </a:r>
          </a:p>
          <a:p>
            <a:pPr marL="742950" lvl="1" indent="-285750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0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Kein weiteres Planungsprojekt nötig.</a:t>
            </a:r>
          </a:p>
          <a:p>
            <a:pPr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000" b="1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Minimales Risiko. Maximale Klarheit.</a:t>
            </a:r>
            <a:endParaRPr lang="de-DE" sz="1000" b="0" i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742950" lvl="1" indent="-285750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0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4 Wochen. Ein Ergebnis. Eine Entscheidungsgrundlage.</a:t>
            </a:r>
          </a:p>
          <a:p>
            <a:pPr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000" b="1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Ist das für Sie grundsätzlich relevant?</a:t>
            </a:r>
            <a:endParaRPr lang="de-DE" sz="1000" b="0" i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742950" lvl="1" indent="-285750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000" b="0" i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Wenn ja — sprechen wir über die konkreten nächsten Schritte.</a:t>
            </a:r>
          </a:p>
        </p:txBody>
      </p:sp>
      <p:sp>
        <p:nvSpPr>
          <p:cNvPr id="2" name="Inhaltsplatzhalter 7">
            <a:extLst>
              <a:ext uri="{FF2B5EF4-FFF2-40B4-BE49-F238E27FC236}">
                <a16:creationId xmlns:a16="http://schemas.microsoft.com/office/drawing/2014/main" id="{A09CDC29-9B8F-38F5-8A01-9008E1513DF2}"/>
              </a:ext>
            </a:extLst>
          </p:cNvPr>
          <p:cNvSpPr txBox="1">
            <a:spLocks/>
          </p:cNvSpPr>
          <p:nvPr/>
        </p:nvSpPr>
        <p:spPr>
          <a:xfrm>
            <a:off x="1484640" y="385939"/>
            <a:ext cx="3867946" cy="216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Font typeface="Wingdings" pitchFamily="2" charset="2"/>
              <a:buNone/>
            </a:pPr>
            <a:r>
              <a:rPr lang="de-DE" sz="2400">
                <a:latin typeface="+mj-lt"/>
              </a:rPr>
              <a:t>Input</a:t>
            </a:r>
          </a:p>
        </p:txBody>
      </p:sp>
    </p:spTree>
    <p:extLst>
      <p:ext uri="{BB962C8B-B14F-4D97-AF65-F5344CB8AC3E}">
        <p14:creationId xmlns:p14="http://schemas.microsoft.com/office/powerpoint/2010/main" val="3365596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8C81D06C-C1FF-0639-3384-DC967736DC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/>
              <a:t>4 Wochen. Ein Ergebnis. Eine Entscheidungsgrundlage.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677E88CE-6D75-3236-B0F7-1016BE2E3E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17B77D9-BC9E-39D3-4C13-F45E2AB6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mgm </a:t>
            </a:r>
            <a:r>
              <a:rPr lang="de-DE" dirty="0" err="1"/>
              <a:t>Cosmo – High Speed Software</a:t>
            </a:r>
            <a:endParaRPr lang="de-DE" dirty="0"/>
          </a:p>
        </p:txBody>
      </p:sp>
      <p:sp>
        <p:nvSpPr>
          <p:cNvPr id="24" name="Inhaltsplatzhalter 23">
            <a:extLst>
              <a:ext uri="{FF2B5EF4-FFF2-40B4-BE49-F238E27FC236}">
                <a16:creationId xmlns:a16="http://schemas.microsoft.com/office/drawing/2014/main" id="{C05C1BFD-6E1C-F71A-3790-C72C22CC20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47DED23-8960-47CB-D088-589245A3138E}"/>
              </a:ext>
            </a:extLst>
          </p:cNvPr>
          <p:cNvSpPr txBox="1"/>
          <p:nvPr/>
        </p:nvSpPr>
        <p:spPr>
          <a:xfrm>
            <a:off x="3958829" y="6066001"/>
            <a:ext cx="7358185" cy="2077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r">
              <a:buNone/>
            </a:pPr>
            <a:r>
              <a:rPr lang="de-DE" sz="600" dirty="0">
                <a:latin typeface="Roboto" panose="02000000000000000000" pitchFamily="2" charset="0"/>
              </a:rPr>
              <a:t>München/HQ    Aachen    Bamberg    Berlin    </a:t>
            </a:r>
            <a:r>
              <a:rPr lang="de-DE" sz="600" dirty="0" err="1">
                <a:latin typeface="Roboto" panose="02000000000000000000" pitchFamily="2" charset="0"/>
              </a:rPr>
              <a:t>Đà</a:t>
            </a:r>
            <a:r>
              <a:rPr lang="de-DE" sz="600" dirty="0">
                <a:latin typeface="Roboto" panose="02000000000000000000" pitchFamily="2" charset="0"/>
              </a:rPr>
              <a:t> </a:t>
            </a:r>
            <a:r>
              <a:rPr lang="de-DE" sz="600" dirty="0" err="1">
                <a:latin typeface="Roboto" panose="02000000000000000000" pitchFamily="2" charset="0"/>
              </a:rPr>
              <a:t>Nẵng</a:t>
            </a:r>
            <a:r>
              <a:rPr lang="de-DE" sz="600" dirty="0">
                <a:latin typeface="Roboto" panose="02000000000000000000" pitchFamily="2" charset="0"/>
              </a:rPr>
              <a:t>    Dresden   Geretsried    Grenoble    Hamburg    </a:t>
            </a:r>
            <a:r>
              <a:rPr lang="de-DE" sz="600" dirty="0" err="1">
                <a:latin typeface="Roboto" panose="02000000000000000000" pitchFamily="2" charset="0"/>
              </a:rPr>
              <a:t>Hồ</a:t>
            </a:r>
            <a:r>
              <a:rPr lang="de-DE" sz="600" dirty="0">
                <a:latin typeface="Roboto" panose="02000000000000000000" pitchFamily="2" charset="0"/>
              </a:rPr>
              <a:t> </a:t>
            </a:r>
            <a:r>
              <a:rPr lang="de-DE" sz="600" dirty="0" err="1">
                <a:latin typeface="Roboto" panose="02000000000000000000" pitchFamily="2" charset="0"/>
              </a:rPr>
              <a:t>Chí</a:t>
            </a:r>
            <a:r>
              <a:rPr lang="de-DE" sz="600" dirty="0">
                <a:latin typeface="Roboto" panose="02000000000000000000" pitchFamily="2" charset="0"/>
              </a:rPr>
              <a:t> Minh City    Köln    Landshut    Leipzig    Nürnberg    Porto   Praha    Salzburg    Stuttgart    Washington</a:t>
            </a:r>
          </a:p>
          <a:p>
            <a:pPr marL="0" indent="0" algn="r">
              <a:buNone/>
            </a:pPr>
            <a:endParaRPr lang="de-DE" sz="600" dirty="0">
              <a:latin typeface="Roboto" panose="02000000000000000000" pitchFamily="2" charset="0"/>
            </a:endParaRPr>
          </a:p>
          <a:p>
            <a:pPr marL="0" indent="0" algn="r">
              <a:buNone/>
            </a:pPr>
            <a:endParaRPr lang="de-DE" sz="600" dirty="0">
              <a:latin typeface="Roboto" panose="02000000000000000000" pitchFamily="2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EDCABF5-EB64-5C67-E5F7-E65A0E898BC8}"/>
              </a:ext>
            </a:extLst>
          </p:cNvPr>
          <p:cNvSpPr txBox="1"/>
          <p:nvPr/>
        </p:nvSpPr>
        <p:spPr>
          <a:xfrm>
            <a:off x="288235" y="446267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endParaRPr lang="de-DE" dirty="0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962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ScaleBackground">
            <a:extLst>
              <a:ext uri="{FF2B5EF4-FFF2-40B4-BE49-F238E27FC236}">
                <a16:creationId xmlns:a16="http://schemas.microsoft.com/office/drawing/2014/main" id="{B6C1E387-7912-7F2F-1A92-C23862B6F6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8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F2A6B5B9-875F-81BE-8937-10F374B2E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>
              <a:buNone/>
            </a:pPr>
            <a:r>
              <a:rPr lang="de-DE" sz="3200">
                <a:solidFill>
                  <a:schemeClr val="bg1"/>
                </a:solidFill>
                <a:latin typeface="+mj-lt"/>
              </a:rPr>
              <a:t>Jedes zweite Software-Projekt scheitert.</a:t>
            </a:r>
          </a:p>
          <a:p>
            <a:pPr marL="0" indent="0">
              <a:buNone/>
            </a:pPr>
            <a:endParaRPr lang="de-DE" sz="1600">
              <a:solidFill>
                <a:schemeClr val="bg1"/>
              </a:solidFill>
              <a:latin typeface="+mn-lt"/>
            </a:endParaRPr>
          </a:p>
          <a:p>
            <a:pPr marL="0" indent="0">
              <a:buNone/>
            </a:pPr>
            <a:r>
              <a:rPr lang="de-DE" sz="1600">
                <a:solidFill>
                  <a:schemeClr val="bg1"/>
                </a:solidFill>
                <a:latin typeface="+mn-lt"/>
              </a:rPr>
              <a:t>Zu lang. Zu teuer. Zu komplex.</a:t>
            </a:r>
          </a:p>
          <a:p>
            <a:pPr marL="0" indent="0">
              <a:buNone/>
            </a:pPr>
            <a:r>
              <a:rPr lang="de-DE" sz="1600">
                <a:solidFill>
                  <a:schemeClr val="bg1"/>
                </a:solidFill>
                <a:latin typeface="+mn-lt"/>
              </a:rPr>
              <a:t>12+ Monate Planung. 2–3 Mio. Euro. </a:t>
            </a:r>
          </a:p>
          <a:p>
            <a:pPr marL="0" indent="0">
              <a:buNone/>
            </a:pPr>
            <a:r>
              <a:rPr lang="de-DE" sz="1600">
                <a:solidFill>
                  <a:schemeClr val="bg1"/>
                </a:solidFill>
                <a:latin typeface="+mn-lt"/>
              </a:rPr>
              <a:t>Bevor die Umsetzung überhaupt beginnt.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25FA6A6-D3DC-29F6-2A10-8714D2E2E38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8A35295F-F35C-2D01-2E7F-796421708BB7}"/>
              </a:ext>
            </a:extLst>
          </p:cNvPr>
          <p:cNvGrpSpPr/>
          <p:nvPr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C42CD3B5-0D32-BF8B-B715-D76EE81CBC3E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F8008696-2B35-B96A-F37E-F62A89E98C84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A63AF70F-A421-6BB6-ECF3-720C3B26ABB8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76BC23E9-10FE-2AB9-ACD9-F4263F448A65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BE7008EB-3C5C-CBE6-25FA-4D13D6DEE97B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53B509A2-8CDB-86E6-F5F5-C7A6534DD004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F6223235-AD9E-FB8D-6A86-86EDD9326E86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A55D99A2-BEA8-8EEF-8BCA-7F5BE9D8D313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5115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572DC-D232-F009-2208-BAFEFF8E3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ScaleBackground">
            <a:extLst>
              <a:ext uri="{FF2B5EF4-FFF2-40B4-BE49-F238E27FC236}">
                <a16:creationId xmlns:a16="http://schemas.microsoft.com/office/drawing/2014/main" id="{8C6D7A21-CAA5-0968-3C7B-730EB0C5EC8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21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E2485C6-347E-25E0-11CC-03E1DB7A6A0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BFD221C5-4F93-5811-8634-A7597178648F}"/>
              </a:ext>
            </a:extLst>
          </p:cNvPr>
          <p:cNvGrpSpPr/>
          <p:nvPr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0B665858-3086-5EC8-9C7C-4F16A33F6E73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13A8986E-468C-5043-BC30-2349D2C21527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B988458C-1817-1310-2624-9F4FDB676538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F36B4081-F72B-A187-1DB5-0B84D8E1599C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18D34429-142E-44C9-0196-BAD0C3FC2071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C8BCDE6C-1CB9-7796-1B3E-3AD5CE4FFCEF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AA474861-0077-ED66-FF75-87F1023FB1AA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A83C8638-7BC6-47F2-DAFE-54E91F47516B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sp>
        <p:nvSpPr>
          <p:cNvPr id="16" name="Inhaltsplatzhalter 7">
            <a:extLst>
              <a:ext uri="{FF2B5EF4-FFF2-40B4-BE49-F238E27FC236}">
                <a16:creationId xmlns:a16="http://schemas.microsoft.com/office/drawing/2014/main" id="{D8A181FE-A0F2-58CE-8F42-933702FCD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176" y="2060848"/>
            <a:ext cx="9516024" cy="4212952"/>
          </a:xfrm>
        </p:spPr>
        <p:txBody>
          <a:bodyPr anchor="ctr"/>
          <a:lstStyle/>
          <a:p>
            <a:pPr marL="0" indent="0">
              <a:buNone/>
            </a:pPr>
            <a:r>
              <a:rPr lang="de-DE" sz="3200">
                <a:solidFill>
                  <a:schemeClr val="bg1"/>
                </a:solidFill>
                <a:latin typeface="+mj-lt"/>
              </a:rPr>
              <a:t>Die Herausforderungen bleiben.</a:t>
            </a:r>
          </a:p>
          <a:p>
            <a:pPr marL="0" indent="0">
              <a:buNone/>
            </a:pPr>
            <a:endParaRPr lang="de-DE" sz="1600">
              <a:solidFill>
                <a:schemeClr val="bg1"/>
              </a:solidFill>
              <a:latin typeface="+mn-lt"/>
            </a:endParaRPr>
          </a:p>
          <a:p>
            <a:pPr marL="0" indent="0">
              <a:buNone/>
            </a:pPr>
            <a:r>
              <a:rPr lang="de-DE" sz="1600">
                <a:solidFill>
                  <a:schemeClr val="bg1"/>
                </a:solidFill>
                <a:latin typeface="+mn-lt"/>
              </a:rPr>
              <a:t>Kostendruck — Steigende Combined Ratios, sinkende Margen</a:t>
            </a:r>
          </a:p>
          <a:p>
            <a:pPr marL="0" indent="0">
              <a:buNone/>
            </a:pPr>
            <a:r>
              <a:rPr lang="de-DE" sz="1600">
                <a:solidFill>
                  <a:schemeClr val="bg1"/>
                </a:solidFill>
                <a:latin typeface="+mn-lt"/>
              </a:rPr>
              <a:t>Fachkräftemangel — Erfahrene Underwriter gehen — Wissen geht mit</a:t>
            </a:r>
          </a:p>
          <a:p>
            <a:pPr marL="0" indent="0">
              <a:buNone/>
            </a:pPr>
            <a:r>
              <a:rPr lang="de-DE" sz="1600">
                <a:solidFill>
                  <a:schemeClr val="bg1"/>
                </a:solidFill>
                <a:latin typeface="+mn-lt"/>
              </a:rPr>
              <a:t>Medienbrüche — Kein durchgängiger Workflow, verteilte Systeme</a:t>
            </a:r>
          </a:p>
        </p:txBody>
      </p:sp>
    </p:spTree>
    <p:extLst>
      <p:ext uri="{BB962C8B-B14F-4D97-AF65-F5344CB8AC3E}">
        <p14:creationId xmlns:p14="http://schemas.microsoft.com/office/powerpoint/2010/main" val="800159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324B6-0E68-2AE4-0BB3-2DC1B7CF3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ScaleBackground">
            <a:extLst>
              <a:ext uri="{FF2B5EF4-FFF2-40B4-BE49-F238E27FC236}">
                <a16:creationId xmlns:a16="http://schemas.microsoft.com/office/drawing/2014/main" id="{2E19807C-65EB-83CA-165B-FC72D42EFC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1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EF80476-A447-F31A-C57C-6A0E7F9EFF0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04F62426-FE27-36B8-FD78-C89BBAF37A02}"/>
              </a:ext>
            </a:extLst>
          </p:cNvPr>
          <p:cNvGrpSpPr/>
          <p:nvPr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53943CE0-D791-A152-2FC0-9F7A92693E01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80AF68CA-A04D-0F45-CB8C-926B21B122C3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64E19AE-B62B-E9A0-918D-42F64ADF0DE6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0118639F-D852-07E4-57CD-6775C7D745A4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B3FF6A71-6B72-2528-F1DA-30B9A0EC74F4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198F791E-A1B7-92EE-3F16-B7CE1937C506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178F3654-4358-B9D8-BFD7-98CE8D31018E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3B288434-263E-CA26-D9E1-975305EE654E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sp>
        <p:nvSpPr>
          <p:cNvPr id="19" name="Inhaltsplatzhalter 7">
            <a:extLst>
              <a:ext uri="{FF2B5EF4-FFF2-40B4-BE49-F238E27FC236}">
                <a16:creationId xmlns:a16="http://schemas.microsoft.com/office/drawing/2014/main" id="{182F0C1D-323E-382A-7BED-A4DA6D6E2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176" y="2060848"/>
            <a:ext cx="9516024" cy="4212952"/>
          </a:xfrm>
        </p:spPr>
        <p:txBody>
          <a:bodyPr anchor="ctr"/>
          <a:lstStyle/>
          <a:p>
            <a:pPr marL="0" indent="0">
              <a:buNone/>
            </a:pPr>
            <a:r>
              <a:rPr lang="de-DE" sz="3200">
                <a:solidFill>
                  <a:schemeClr val="bg1"/>
                </a:solidFill>
                <a:latin typeface="+mj-lt"/>
              </a:rPr>
              <a:t>Unser Angebot: High Speed Software</a:t>
            </a:r>
          </a:p>
          <a:p>
            <a:pPr marL="0" indent="0">
              <a:buNone/>
            </a:pPr>
            <a:endParaRPr lang="de-DE" sz="1600">
              <a:solidFill>
                <a:schemeClr val="bg1"/>
              </a:solidFill>
              <a:latin typeface="+mn-lt"/>
            </a:endParaRPr>
          </a:p>
          <a:p>
            <a:pPr marL="0" indent="0">
              <a:buNone/>
            </a:pPr>
            <a:r>
              <a:rPr lang="de-DE" sz="1600">
                <a:solidFill>
                  <a:schemeClr val="bg1"/>
                </a:solidFill>
                <a:latin typeface="+mn-lt"/>
              </a:rPr>
              <a:t>Ein fertiges Konzept mit voll funktionaler Software.</a:t>
            </a:r>
          </a:p>
          <a:p>
            <a:pPr marL="0" indent="0">
              <a:buNone/>
            </a:pPr>
            <a:r>
              <a:rPr lang="de-DE" sz="1600">
                <a:solidFill>
                  <a:schemeClr val="bg1"/>
                </a:solidFill>
                <a:latin typeface="+mn-lt"/>
              </a:rPr>
              <a:t>Für Ihr individuelles digitales Underwriting.</a:t>
            </a:r>
          </a:p>
          <a:p>
            <a:pPr marL="0" indent="0">
              <a:buNone/>
            </a:pPr>
            <a:r>
              <a:rPr lang="de-DE" sz="1600">
                <a:solidFill>
                  <a:schemeClr val="bg1"/>
                </a:solidFill>
              </a:rPr>
              <a:t>In 4 Wochen. </a:t>
            </a:r>
            <a:endParaRPr lang="de-DE" sz="160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0701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C925E-44FF-557D-5969-EF3D63FB8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ScaleBackground">
            <a:extLst>
              <a:ext uri="{FF2B5EF4-FFF2-40B4-BE49-F238E27FC236}">
                <a16:creationId xmlns:a16="http://schemas.microsoft.com/office/drawing/2014/main" id="{1CAE5A59-FF83-6047-A121-3479E82FF6B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0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ED887C0-F6CC-1875-0A4D-502182AD08B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C2FC9F3A-D598-2DF6-624A-B98CA86F6F19}"/>
              </a:ext>
            </a:extLst>
          </p:cNvPr>
          <p:cNvGrpSpPr/>
          <p:nvPr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2EEF4034-475D-3D36-5828-320B8A0BF595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663A9B02-829B-DA42-DACD-A459549D4E78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6829271A-D22F-232A-5B19-63E2BFDB4035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54BC358A-1A5E-E3D2-FCC8-E0EC1A3690EC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6BCCD164-D7BC-59B9-4C18-97DE50325194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EC3AC26C-13BB-4E7A-A1F4-603A46911425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4F984E11-6A9C-35D2-3C47-F4A3877B9A90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F2832A41-35B2-78E5-FE9D-F90E1EC0E1A5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sp>
        <p:nvSpPr>
          <p:cNvPr id="16" name="Inhaltsplatzhalter 7">
            <a:extLst>
              <a:ext uri="{FF2B5EF4-FFF2-40B4-BE49-F238E27FC236}">
                <a16:creationId xmlns:a16="http://schemas.microsoft.com/office/drawing/2014/main" id="{DCF26514-D4D0-1F27-124C-E5E0DEE52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175" y="2060848"/>
            <a:ext cx="10160789" cy="4212952"/>
          </a:xfrm>
        </p:spPr>
        <p:txBody>
          <a:bodyPr anchor="ctr"/>
          <a:lstStyle/>
          <a:p>
            <a:pPr marL="0" indent="0">
              <a:buNone/>
            </a:pPr>
            <a:r>
              <a:rPr lang="de-DE" sz="3200">
                <a:solidFill>
                  <a:schemeClr val="bg1"/>
                </a:solidFill>
                <a:latin typeface="+mj-lt"/>
              </a:rPr>
              <a:t>Unsere Erfolgsfaktoren: Team, Individualität, AI</a:t>
            </a:r>
          </a:p>
          <a:p>
            <a:pPr marL="0" indent="0">
              <a:buNone/>
            </a:pPr>
            <a:endParaRPr lang="de-DE" sz="1600">
              <a:solidFill>
                <a:schemeClr val="bg1"/>
              </a:solidFill>
              <a:latin typeface="+mn-lt"/>
            </a:endParaRPr>
          </a:p>
          <a:p>
            <a:pPr marL="0" indent="0">
              <a:buNone/>
            </a:pPr>
            <a:r>
              <a:rPr lang="de-DE" sz="1600">
                <a:solidFill>
                  <a:schemeClr val="bg1"/>
                </a:solidFill>
                <a:latin typeface="+mn-lt"/>
              </a:rPr>
              <a:t>Das mgm-Expertenteam: Underwriting, Prozesse, IT, AI — 30 Jahre Branchenknowhow in der Industrieversichung</a:t>
            </a:r>
          </a:p>
          <a:p>
            <a:pPr marL="0" indent="0">
              <a:buNone/>
            </a:pPr>
            <a:r>
              <a:rPr lang="de-DE" sz="1600">
                <a:solidFill>
                  <a:schemeClr val="bg1"/>
                </a:solidFill>
                <a:latin typeface="+mn-lt"/>
              </a:rPr>
              <a:t>Maßgeschneidert auf Ihre Situation, IST-Analyse Ihrer Organisation/Prozesse/Systeme als Ausgangspunkt</a:t>
            </a:r>
          </a:p>
          <a:p>
            <a:pPr marL="0" indent="0">
              <a:buNone/>
            </a:pPr>
            <a:r>
              <a:rPr lang="de-DE" sz="1600">
                <a:solidFill>
                  <a:schemeClr val="bg1"/>
                </a:solidFill>
                <a:latin typeface="+mn-lt"/>
              </a:rPr>
              <a:t>Kein Papierkonzept. Funktionsfähige Software. Sofort anfassbar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642ECC41-A94C-3E08-DBA0-DA9E1977924E}"/>
              </a:ext>
            </a:extLst>
          </p:cNvPr>
          <p:cNvSpPr txBox="1"/>
          <p:nvPr/>
        </p:nvSpPr>
        <p:spPr>
          <a:xfrm>
            <a:off x="-4638261" y="-1855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3284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29C52-48E7-C327-FAA7-B1994B1FE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ScaleBackground">
            <a:extLst>
              <a:ext uri="{FF2B5EF4-FFF2-40B4-BE49-F238E27FC236}">
                <a16:creationId xmlns:a16="http://schemas.microsoft.com/office/drawing/2014/main" id="{BBFAEB99-ED45-7B09-AEBF-358C64C508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06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E17E047-3CAA-A2F7-5AFA-6707BE406EB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7E4192AC-D7F8-949E-0913-D2B2F10C7C92}"/>
              </a:ext>
            </a:extLst>
          </p:cNvPr>
          <p:cNvGrpSpPr/>
          <p:nvPr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E43B5AD3-B242-8FB9-E9BA-D8D7725ED0C4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E432FF3E-56BC-E85A-43F1-BC8080A3A8EE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43C29CAA-2642-432B-EF33-156EC6336673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564288B1-1B77-95BA-72FA-3AA7B0CEC5BD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4B1D6DDC-9B1A-7787-1B75-896AE6BF81F2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F848FE71-FF1B-486B-F135-A71CF528C12E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F9AE8849-52C9-779B-179E-41A67FB6944E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491A59A0-D424-C7EE-264D-ABA3857BA121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sp>
        <p:nvSpPr>
          <p:cNvPr id="16" name="Inhaltsplatzhalter 7">
            <a:extLst>
              <a:ext uri="{FF2B5EF4-FFF2-40B4-BE49-F238E27FC236}">
                <a16:creationId xmlns:a16="http://schemas.microsoft.com/office/drawing/2014/main" id="{FCB90FC4-F692-8596-7CE8-123252977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175" y="2060848"/>
            <a:ext cx="10160789" cy="4212952"/>
          </a:xfrm>
        </p:spPr>
        <p:txBody>
          <a:bodyPr anchor="ctr"/>
          <a:lstStyle/>
          <a:p>
            <a:pPr marL="0" indent="0">
              <a:buNone/>
            </a:pPr>
            <a:r>
              <a:rPr lang="de-DE" sz="3200">
                <a:solidFill>
                  <a:schemeClr val="bg1"/>
                </a:solidFill>
                <a:latin typeface="+mj-lt"/>
              </a:rPr>
              <a:t>Voraussetzung: Ihr Commitment</a:t>
            </a:r>
          </a:p>
          <a:p>
            <a:pPr marL="0" indent="0">
              <a:buNone/>
            </a:pPr>
            <a:endParaRPr lang="de-DE" sz="1600">
              <a:solidFill>
                <a:schemeClr val="bg1"/>
              </a:solidFill>
              <a:latin typeface="+mn-lt"/>
            </a:endParaRPr>
          </a:p>
          <a:p>
            <a:pPr marL="0" indent="0">
              <a:buNone/>
            </a:pPr>
            <a:r>
              <a:rPr lang="de-DE" sz="1600">
                <a:solidFill>
                  <a:schemeClr val="bg1"/>
                </a:solidFill>
              </a:rPr>
              <a:t>Ein Sponsor aus dem Vorstand, 1 Stunde Zeit pro Tag für 4 Wochen</a:t>
            </a:r>
            <a:endParaRPr lang="de-DE" sz="1600">
              <a:solidFill>
                <a:schemeClr val="bg1"/>
              </a:solidFill>
              <a:latin typeface="+mn-lt"/>
            </a:endParaRPr>
          </a:p>
          <a:p>
            <a:pPr marL="0" indent="0">
              <a:buNone/>
            </a:pPr>
            <a:r>
              <a:rPr lang="de-DE" sz="1600">
                <a:solidFill>
                  <a:schemeClr val="bg1"/>
                </a:solidFill>
                <a:latin typeface="+mn-lt"/>
              </a:rPr>
              <a:t>Direkte Kommunikation mit Ihren Fachbereichen, </a:t>
            </a:r>
            <a:r>
              <a:rPr lang="de-DE" sz="1600">
                <a:solidFill>
                  <a:schemeClr val="bg1"/>
                </a:solidFill>
              </a:rPr>
              <a:t>50–100 Tage Zeit für 4 Wochen</a:t>
            </a:r>
            <a:endParaRPr lang="de-DE" sz="1600">
              <a:solidFill>
                <a:schemeClr val="bg1"/>
              </a:solidFill>
              <a:latin typeface="+mn-lt"/>
            </a:endParaRPr>
          </a:p>
          <a:p>
            <a:pPr marL="0" indent="0">
              <a:buNone/>
            </a:pPr>
            <a:r>
              <a:rPr lang="de-DE" sz="1600">
                <a:solidFill>
                  <a:schemeClr val="bg1"/>
                </a:solidFill>
                <a:latin typeface="+mn-lt"/>
              </a:rPr>
              <a:t>Systemzugriff und beidseitige Vertraulickeit</a:t>
            </a:r>
          </a:p>
          <a:p>
            <a:pPr marL="0" indent="0">
              <a:buNone/>
            </a:pPr>
            <a:endParaRPr lang="de-DE" sz="1600">
              <a:solidFill>
                <a:schemeClr val="bg1"/>
              </a:solidFill>
              <a:latin typeface="+mn-lt"/>
            </a:endParaRPr>
          </a:p>
          <a:p>
            <a:pPr marL="0" indent="0">
              <a:buNone/>
            </a:pPr>
            <a:endParaRPr lang="de-DE" sz="160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56379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D6718-B6D7-0B61-7C06-34B1F902E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ScaleBackground">
            <a:extLst>
              <a:ext uri="{FF2B5EF4-FFF2-40B4-BE49-F238E27FC236}">
                <a16:creationId xmlns:a16="http://schemas.microsoft.com/office/drawing/2014/main" id="{D4966475-89D1-C5FF-B08D-6CE598B585D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6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6ECA7F0-4806-DC18-75B3-EECE0196F0D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04C9A9E-29C1-8519-59F0-C9F0ABEE016F}"/>
              </a:ext>
            </a:extLst>
          </p:cNvPr>
          <p:cNvGrpSpPr/>
          <p:nvPr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EE88D1C3-DCA3-3607-25A3-77A31E1D28B3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3B5301C3-1034-4C51-4890-E2E1FC0B2A16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B65A1AFE-7C6C-23AC-B986-B8AFB2423455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005EFEC9-6C46-A077-037A-D3B5567E3AF0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8DCC1C1F-EDEE-B83C-80B6-2F46719AEA83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3ABF9CE2-138C-F290-8819-4E8B35627E2E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62B2A425-491C-3D25-1DD9-6515985BF71B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A6960A0F-5ABA-CD9D-54D3-86DF17BBDECB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sp>
        <p:nvSpPr>
          <p:cNvPr id="16" name="Inhaltsplatzhalter 7">
            <a:extLst>
              <a:ext uri="{FF2B5EF4-FFF2-40B4-BE49-F238E27FC236}">
                <a16:creationId xmlns:a16="http://schemas.microsoft.com/office/drawing/2014/main" id="{94167ACE-511E-DD6A-CD27-E697F1447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176" y="2716696"/>
            <a:ext cx="4488860" cy="596349"/>
          </a:xfrm>
        </p:spPr>
        <p:txBody>
          <a:bodyPr anchor="t"/>
          <a:lstStyle/>
          <a:p>
            <a:pPr marL="0" indent="0">
              <a:buNone/>
            </a:pPr>
            <a:r>
              <a:rPr lang="de-DE" sz="3200">
                <a:solidFill>
                  <a:schemeClr val="bg1"/>
                </a:solidFill>
                <a:latin typeface="+mj-lt"/>
              </a:rPr>
              <a:t>Zusammengefasst:</a:t>
            </a:r>
            <a:endParaRPr lang="de-DE" sz="16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" name="Inhaltsplatzhalter 7">
            <a:extLst>
              <a:ext uri="{FF2B5EF4-FFF2-40B4-BE49-F238E27FC236}">
                <a16:creationId xmlns:a16="http://schemas.microsoft.com/office/drawing/2014/main" id="{307871FF-A98E-66BC-1A86-BCFC0085A5E9}"/>
              </a:ext>
            </a:extLst>
          </p:cNvPr>
          <p:cNvSpPr txBox="1">
            <a:spLocks/>
          </p:cNvSpPr>
          <p:nvPr/>
        </p:nvSpPr>
        <p:spPr>
          <a:xfrm>
            <a:off x="1819178" y="3760304"/>
            <a:ext cx="2050458" cy="15008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de-DE" sz="1600" b="1">
                <a:solidFill>
                  <a:schemeClr val="bg1"/>
                </a:solidFill>
              </a:rPr>
              <a:t>Bisher üblich:</a:t>
            </a:r>
          </a:p>
          <a:p>
            <a:pPr marL="0" indent="0">
              <a:buFont typeface="Wingdings" pitchFamily="2" charset="2"/>
              <a:buNone/>
            </a:pPr>
            <a:r>
              <a:rPr lang="de-DE" sz="1600">
                <a:solidFill>
                  <a:schemeClr val="bg1"/>
                </a:solidFill>
              </a:rPr>
              <a:t>12+ Monate</a:t>
            </a:r>
          </a:p>
          <a:p>
            <a:pPr marL="0" indent="0">
              <a:buFont typeface="Wingdings" pitchFamily="2" charset="2"/>
              <a:buNone/>
            </a:pPr>
            <a:r>
              <a:rPr lang="de-DE" sz="1600">
                <a:solidFill>
                  <a:schemeClr val="bg1"/>
                </a:solidFill>
              </a:rPr>
              <a:t>2–3 Mio EUR</a:t>
            </a:r>
          </a:p>
          <a:p>
            <a:pPr marL="0" indent="0">
              <a:buFont typeface="Wingdings" pitchFamily="2" charset="2"/>
              <a:buNone/>
            </a:pPr>
            <a:r>
              <a:rPr lang="de-DE" sz="1600">
                <a:solidFill>
                  <a:schemeClr val="bg1"/>
                </a:solidFill>
              </a:rPr>
              <a:t>Papierkonzept</a:t>
            </a:r>
            <a:endParaRPr lang="de-DE" sz="16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9" name="Inhaltsplatzhalter 7">
            <a:extLst>
              <a:ext uri="{FF2B5EF4-FFF2-40B4-BE49-F238E27FC236}">
                <a16:creationId xmlns:a16="http://schemas.microsoft.com/office/drawing/2014/main" id="{3696D0C5-F7DA-E201-C16B-6B110DF2161C}"/>
              </a:ext>
            </a:extLst>
          </p:cNvPr>
          <p:cNvSpPr txBox="1">
            <a:spLocks/>
          </p:cNvSpPr>
          <p:nvPr/>
        </p:nvSpPr>
        <p:spPr>
          <a:xfrm>
            <a:off x="3946152" y="3760304"/>
            <a:ext cx="2050458" cy="15008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de-DE" sz="1600" b="1">
                <a:solidFill>
                  <a:schemeClr val="bg1"/>
                </a:solidFill>
              </a:rPr>
              <a:t>Bei uns:</a:t>
            </a:r>
          </a:p>
          <a:p>
            <a:pPr marL="0" indent="0">
              <a:buFont typeface="Wingdings" pitchFamily="2" charset="2"/>
              <a:buNone/>
            </a:pPr>
            <a:r>
              <a:rPr lang="de-DE" sz="1600">
                <a:solidFill>
                  <a:schemeClr val="bg1"/>
                </a:solidFill>
              </a:rPr>
              <a:t>4 Wochen</a:t>
            </a:r>
          </a:p>
          <a:p>
            <a:pPr marL="0" indent="0">
              <a:buFont typeface="Wingdings" pitchFamily="2" charset="2"/>
              <a:buNone/>
            </a:pPr>
            <a:r>
              <a:rPr lang="de-DE" sz="1600">
                <a:solidFill>
                  <a:schemeClr val="bg1"/>
                </a:solidFill>
              </a:rPr>
              <a:t>500 TEUR</a:t>
            </a:r>
          </a:p>
          <a:p>
            <a:pPr marL="0" indent="0">
              <a:buFont typeface="Wingdings" pitchFamily="2" charset="2"/>
              <a:buNone/>
            </a:pPr>
            <a:r>
              <a:rPr lang="de-DE" sz="1600">
                <a:solidFill>
                  <a:schemeClr val="bg1"/>
                </a:solidFill>
              </a:rPr>
              <a:t>Software</a:t>
            </a:r>
            <a:endParaRPr lang="de-DE" sz="16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" name="Inhaltsplatzhalter 7">
            <a:extLst>
              <a:ext uri="{FF2B5EF4-FFF2-40B4-BE49-F238E27FC236}">
                <a16:creationId xmlns:a16="http://schemas.microsoft.com/office/drawing/2014/main" id="{747EED24-526F-3CC7-710D-ACA3E6548AB8}"/>
              </a:ext>
            </a:extLst>
          </p:cNvPr>
          <p:cNvSpPr txBox="1">
            <a:spLocks/>
          </p:cNvSpPr>
          <p:nvPr/>
        </p:nvSpPr>
        <p:spPr>
          <a:xfrm>
            <a:off x="5602089" y="3760304"/>
            <a:ext cx="5269453" cy="150080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de-DE" sz="1600" b="1">
                <a:solidFill>
                  <a:schemeClr val="bg1"/>
                </a:solidFill>
              </a:rPr>
              <a:t>Nahtloser Übergang für nächste Schritte: </a:t>
            </a:r>
          </a:p>
          <a:p>
            <a:pPr marL="0" indent="0">
              <a:buFont typeface="Wingdings" pitchFamily="2" charset="2"/>
              <a:buNone/>
            </a:pPr>
            <a:r>
              <a:rPr lang="de-DE" sz="1600">
                <a:solidFill>
                  <a:schemeClr val="bg1"/>
                </a:solidFill>
              </a:rPr>
              <a:t>Festpreisangebote für produktive Umsetzung anfragen </a:t>
            </a:r>
            <a:br>
              <a:rPr lang="de-DE" sz="1600">
                <a:solidFill>
                  <a:schemeClr val="bg1"/>
                </a:solidFill>
              </a:rPr>
            </a:br>
            <a:r>
              <a:rPr lang="de-DE" sz="1600">
                <a:solidFill>
                  <a:schemeClr val="bg1"/>
                </a:solidFill>
              </a:rPr>
              <a:t>oder internes Projekt starten. </a:t>
            </a:r>
          </a:p>
          <a:p>
            <a:pPr marL="0" indent="0">
              <a:buFont typeface="Wingdings" pitchFamily="2" charset="2"/>
              <a:buNone/>
            </a:pPr>
            <a:r>
              <a:rPr lang="de-DE" sz="1600">
                <a:solidFill>
                  <a:schemeClr val="bg1"/>
                </a:solidFill>
              </a:rPr>
              <a:t>Kein weiteres Planungsprojekt nötig.</a:t>
            </a:r>
          </a:p>
          <a:p>
            <a:pPr marL="0" indent="0">
              <a:buFont typeface="Wingdings" pitchFamily="2" charset="2"/>
              <a:buNone/>
            </a:pPr>
            <a:endParaRPr lang="de-DE" sz="16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0689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07F7B-8F3E-D316-5830-D47B04F36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ScaleBackground">
            <a:extLst>
              <a:ext uri="{FF2B5EF4-FFF2-40B4-BE49-F238E27FC236}">
                <a16:creationId xmlns:a16="http://schemas.microsoft.com/office/drawing/2014/main" id="{479BA935-ABFC-EEDC-FD95-BCBBCA1C8DF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A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817237B-95A3-5476-E53D-5F963088B89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  <p:sp>
        <p:nvSpPr>
          <p:cNvPr id="16" name="Inhaltsplatzhalter 7">
            <a:extLst>
              <a:ext uri="{FF2B5EF4-FFF2-40B4-BE49-F238E27FC236}">
                <a16:creationId xmlns:a16="http://schemas.microsoft.com/office/drawing/2014/main" id="{8522E1F5-E341-FB1F-1F00-02F0F8B91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175" y="2060848"/>
            <a:ext cx="10160789" cy="4212952"/>
          </a:xfrm>
        </p:spPr>
        <p:txBody>
          <a:bodyPr anchor="ctr"/>
          <a:lstStyle/>
          <a:p>
            <a:pPr marL="0" indent="0">
              <a:buNone/>
            </a:pPr>
            <a:r>
              <a:rPr lang="de-DE" sz="3200">
                <a:solidFill>
                  <a:schemeClr val="bg1"/>
                </a:solidFill>
                <a:latin typeface="+mj-lt"/>
              </a:rPr>
              <a:t>Minimales Risiko. Maximale Klarheit.</a:t>
            </a:r>
          </a:p>
          <a:p>
            <a:pPr marL="0" indent="0">
              <a:buNone/>
            </a:pPr>
            <a:endParaRPr lang="de-DE" sz="1600">
              <a:solidFill>
                <a:schemeClr val="bg1"/>
              </a:solidFill>
              <a:latin typeface="+mn-lt"/>
            </a:endParaRPr>
          </a:p>
          <a:p>
            <a:pPr marL="0" indent="0">
              <a:buNone/>
            </a:pPr>
            <a:r>
              <a:rPr lang="de-DE" sz="1600">
                <a:solidFill>
                  <a:schemeClr val="bg1"/>
                </a:solidFill>
              </a:rPr>
              <a:t>4 Wochen. Ein Ergebnis. Eine Entscheidungsgrundlage.</a:t>
            </a:r>
          </a:p>
          <a:p>
            <a:pPr marL="0" indent="0">
              <a:buNone/>
            </a:pPr>
            <a:endParaRPr lang="de-DE" sz="16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e-DE" sz="1600">
                <a:solidFill>
                  <a:schemeClr val="bg1"/>
                </a:solidFill>
              </a:rPr>
              <a:t>Ist das für Sie relevant?</a:t>
            </a:r>
          </a:p>
          <a:p>
            <a:pPr marL="0" indent="0">
              <a:buNone/>
            </a:pPr>
            <a:r>
              <a:rPr lang="de-DE" sz="1600">
                <a:solidFill>
                  <a:schemeClr val="bg1"/>
                </a:solidFill>
              </a:rPr>
              <a:t>Wenn ja — sprechen Sie mit uns über die konkreten nächsten Schritte.</a:t>
            </a:r>
            <a:endParaRPr lang="de-DE" sz="1600">
              <a:solidFill>
                <a:schemeClr val="bg1"/>
              </a:solidFill>
              <a:latin typeface="+mn-lt"/>
            </a:endParaRPr>
          </a:p>
          <a:p>
            <a:pPr marL="0" indent="0">
              <a:buNone/>
            </a:pPr>
            <a:r>
              <a:rPr lang="de-DE" sz="1600">
                <a:solidFill>
                  <a:schemeClr val="bg1"/>
                </a:solidFill>
                <a:latin typeface="+mn-lt"/>
              </a:rPr>
              <a:t>Marc.Goesswein@mgm-tp.com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B953BC81-DDB4-D223-C426-AD9CD36862C5}"/>
              </a:ext>
            </a:extLst>
          </p:cNvPr>
          <p:cNvGrpSpPr/>
          <p:nvPr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54BB86B5-2C20-63F9-EF72-B5660E668A6E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59555FAF-2A65-9A46-4495-D3B26241C86B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5E520BE4-9512-5DB1-A607-329CDACD41EE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84A70C10-B6C6-3A10-D8AC-15700334F36B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EC141337-8A08-16AA-BBB9-54F944FAB083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4DA712B6-1547-3A30-6595-147500DD71E5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CBFD96B7-0A68-157D-4728-F037518425A5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E0FB8678-E1F8-2348-964B-A67167756A3F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9775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BDC4F2E-E6CC-F88D-2AEF-8593A48EDB13}"/>
              </a:ext>
            </a:extLst>
          </p:cNvPr>
          <p:cNvSpPr/>
          <p:nvPr/>
        </p:nvSpPr>
        <p:spPr>
          <a:xfrm>
            <a:off x="0" y="6554804"/>
            <a:ext cx="12191999" cy="3031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C5B665-00BF-026F-25E7-312A3EBFD058}"/>
              </a:ext>
            </a:extLst>
          </p:cNvPr>
          <p:cNvSpPr txBox="1">
            <a:spLocks/>
          </p:cNvSpPr>
          <p:nvPr/>
        </p:nvSpPr>
        <p:spPr>
          <a:xfrm>
            <a:off x="2135560" y="2060848"/>
            <a:ext cx="9181454" cy="3512179"/>
          </a:xfrm>
          <a:prstGeom prst="rect">
            <a:avLst/>
          </a:prstGeom>
        </p:spPr>
        <p:txBody>
          <a:bodyPr lIns="0" tIns="0" rIns="0" bIns="0" anchor="b"/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Wingdings" pitchFamily="2" charset="2"/>
              <a:buNone/>
            </a:pPr>
            <a:r>
              <a:rPr lang="de-DE" sz="1000" dirty="0" err="1"/>
              <a:t>mgm</a:t>
            </a:r>
            <a:r>
              <a:rPr lang="de-DE" sz="1000" dirty="0"/>
              <a:t> </a:t>
            </a:r>
            <a:r>
              <a:rPr lang="de-DE" sz="1000" dirty="0" err="1"/>
              <a:t>technology</a:t>
            </a:r>
            <a:r>
              <a:rPr lang="de-DE" sz="1000" dirty="0"/>
              <a:t> </a:t>
            </a:r>
            <a:r>
              <a:rPr lang="de-DE" sz="1000" dirty="0" err="1"/>
              <a:t>partners</a:t>
            </a:r>
            <a:r>
              <a:rPr lang="de-DE" sz="1000" dirty="0"/>
              <a:t> GmbH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/>
              <a:t>Taunusstr. 23</a:t>
            </a:r>
            <a:br>
              <a:rPr lang="de-DE" sz="1000" dirty="0"/>
            </a:br>
            <a:r>
              <a:rPr lang="de-DE" sz="1000" dirty="0"/>
              <a:t>80807 München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/>
              <a:t>Tel +49 89 / 35 86 80-0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>
                <a:hlinkClick r:id="rId2"/>
              </a:rPr>
              <a:t>www.mgm-tp.com</a:t>
            </a:r>
            <a:r>
              <a:rPr lang="de-DE" sz="1000" dirty="0"/>
              <a:t> </a:t>
            </a:r>
            <a:br>
              <a:rPr lang="de-DE" sz="1000" dirty="0"/>
            </a:br>
            <a:r>
              <a:rPr lang="de-DE" sz="1000" dirty="0">
                <a:hlinkClick r:id="rId3"/>
              </a:rPr>
              <a:t>info@mgm-tp.com</a:t>
            </a:r>
            <a:r>
              <a:rPr lang="de-DE" sz="1000" dirty="0"/>
              <a:t> 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D1164C1-408E-1AEF-7835-FED8584F473A}"/>
              </a:ext>
            </a:extLst>
          </p:cNvPr>
          <p:cNvSpPr/>
          <p:nvPr/>
        </p:nvSpPr>
        <p:spPr>
          <a:xfrm>
            <a:off x="471639" y="5912318"/>
            <a:ext cx="11720360" cy="3031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46759"/>
      </p:ext>
    </p:extLst>
  </p:cSld>
  <p:clrMapOvr>
    <a:masterClrMapping/>
  </p:clrMapOvr>
</p:sld>
</file>

<file path=ppt/theme/theme1.xml><?xml version="1.0" encoding="utf-8"?>
<a:theme xmlns:a="http://schemas.openxmlformats.org/drawingml/2006/main" name="mgm Master">
  <a:themeElements>
    <a:clrScheme name="mgm 2023">
      <a:dk1>
        <a:srgbClr val="000000"/>
      </a:dk1>
      <a:lt1>
        <a:srgbClr val="FFFFFF"/>
      </a:lt1>
      <a:dk2>
        <a:srgbClr val="207475"/>
      </a:dk2>
      <a:lt2>
        <a:srgbClr val="047FA3"/>
      </a:lt2>
      <a:accent1>
        <a:srgbClr val="5E8013"/>
      </a:accent1>
      <a:accent2>
        <a:srgbClr val="7E6703"/>
      </a:accent2>
      <a:accent3>
        <a:srgbClr val="B83403"/>
      </a:accent3>
      <a:accent4>
        <a:srgbClr val="A0012C"/>
      </a:accent4>
      <a:accent5>
        <a:srgbClr val="6A287D"/>
      </a:accent5>
      <a:accent6>
        <a:srgbClr val="1D4E86"/>
      </a:accent6>
      <a:hlink>
        <a:srgbClr val="1D4E86"/>
      </a:hlink>
      <a:folHlink>
        <a:srgbClr val="1D4E86"/>
      </a:folHlink>
    </a:clrScheme>
    <a:fontScheme name="Benutzerdefiniert 1">
      <a:majorFont>
        <a:latin typeface="Roboto Black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08000" tIns="108000" rIns="108000" bIns="108000" rtlCol="0" anchor="ctr"/>
      <a:lstStyle>
        <a:defPPr marL="0" indent="0" algn="ctr">
          <a:buNone/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0" indent="0" algn="l">
          <a:buNone/>
          <a:defRPr/>
        </a:defPPr>
      </a:lstStyle>
    </a:txDef>
  </a:objectDefaults>
  <a:extraClrSchemeLst>
    <a:extraClrScheme>
      <a:clrScheme name="mgm 2023">
        <a:dk1>
          <a:srgbClr val="000000"/>
        </a:dk1>
        <a:lt1>
          <a:srgbClr val="FFFFFF"/>
        </a:lt1>
        <a:dk2>
          <a:srgbClr val="207475"/>
        </a:dk2>
        <a:lt2>
          <a:srgbClr val="047FA3"/>
        </a:lt2>
        <a:accent1>
          <a:srgbClr val="5E8013"/>
        </a:accent1>
        <a:accent2>
          <a:srgbClr val="7E6703"/>
        </a:accent2>
        <a:accent3>
          <a:srgbClr val="B83403"/>
        </a:accent3>
        <a:accent4>
          <a:srgbClr val="A0012C"/>
        </a:accent4>
        <a:accent5>
          <a:srgbClr val="6A287D"/>
        </a:accent5>
        <a:accent6>
          <a:srgbClr val="1D4E86"/>
        </a:accent6>
        <a:hlink>
          <a:srgbClr val="1D4E86"/>
        </a:hlink>
        <a:folHlink>
          <a:srgbClr val="1D4E86"/>
        </a:folHlink>
      </a:clrScheme>
    </a:extraClrScheme>
  </a:extraClrSchemeLst>
  <a:custClrLst>
    <a:custClr name="mgm Gray 1">
      <a:srgbClr val="F0F2F4"/>
    </a:custClr>
    <a:custClr name="mgm Gray 2">
      <a:srgbClr val="E0E3E7"/>
    </a:custClr>
    <a:custClr name="mgm Gray 3">
      <a:srgbClr val="68778C"/>
    </a:custClr>
    <a:custClr name="mgm Gray 4">
      <a:srgbClr val="4E5A68"/>
    </a:custClr>
  </a:custClrLst>
  <a:extLst>
    <a:ext uri="{05A4C25C-085E-4340-85A3-A5531E510DB2}">
      <thm15:themeFamily xmlns:thm15="http://schemas.microsoft.com/office/thememl/2012/main" name="mgm-Template-2023_with sample slides.potx" id="{F2F743F7-CE81-41D7-AAD6-6A6869CD81F2}" vid="{F60207B9-C30B-4174-B1AA-106068C6107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806</Words>
  <Application>Microsoft Macintosh PowerPoint</Application>
  <PresentationFormat>Breitbild</PresentationFormat>
  <Paragraphs>111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6" baseType="lpstr">
      <vt:lpstr>Wingdings</vt:lpstr>
      <vt:lpstr>Roboto Black</vt:lpstr>
      <vt:lpstr>Arial</vt:lpstr>
      <vt:lpstr>Roboto</vt:lpstr>
      <vt:lpstr>Calibri</vt:lpstr>
      <vt:lpstr>mgm Master</vt:lpstr>
      <vt:lpstr>PowerPoint-Präsentation</vt:lpstr>
      <vt:lpstr>mgm Cosmo – High Speed Software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mgm technology partners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Dietmar Schmidt</dc:creator>
  <cp:lastModifiedBy>Ansgar Knipschild</cp:lastModifiedBy>
  <cp:revision>236</cp:revision>
  <dcterms:created xsi:type="dcterms:W3CDTF">2023-03-17T12:25:06Z</dcterms:created>
  <dcterms:modified xsi:type="dcterms:W3CDTF">2026-03-09T09:17:53Z</dcterms:modified>
</cp:coreProperties>
</file>