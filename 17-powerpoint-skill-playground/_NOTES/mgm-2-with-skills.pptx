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8"/>
  </p:notesMasterIdLst>
  <p:sldIdLst>
    <p:sldId id="259" r:id="rId2"/>
    <p:sldId id="451" r:id="rId3"/>
    <p:sldId id="452" r:id="rId4"/>
    <p:sldId id="453" r:id="rId5"/>
    <p:sldId id="454" r:id="rId6"/>
    <p:sldId id="262" r:id="rId7"/>
  </p:sldIdLst>
  <p:sldSz cx="12192000" cy="6858000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Black" panose="02000000000000000000" pitchFamily="2" charset="0"/>
      <p:bold r:id="rId13"/>
      <p:italic r:id="rId14"/>
      <p:boldItalic r:id="rId15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2" autoAdjust="0"/>
    <p:restoredTop sz="96534"/>
  </p:normalViewPr>
  <p:slideViewPr>
    <p:cSldViewPr snapToGrid="0">
      <p:cViewPr varScale="1">
        <p:scale>
          <a:sx n="124" d="100"/>
          <a:sy n="124" d="100"/>
        </p:scale>
        <p:origin x="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25.02.26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25/02/2026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mgm-tp.com" TargetMode="External"/><Relationship Id="rId2" Type="http://schemas.openxmlformats.org/officeDocument/2006/relationships/hyperlink" Target="http://www.mgm-tp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mgm </a:t>
            </a:r>
            <a:r>
              <a:rPr lang="de-DE" dirty="0" err="1"/>
              <a:t>tp</a:t>
            </a:r>
            <a:r>
              <a:rPr lang="de-DE" dirty="0"/>
              <a:t>/</a:t>
            </a:r>
            <a:r>
              <a:rPr lang="de-DE" dirty="0" err="1"/>
              <a:t>sp</a:t>
            </a:r>
            <a:r>
              <a:rPr lang="de-DE" dirty="0"/>
              <a:t>/</a:t>
            </a:r>
            <a:r>
              <a:rPr lang="de-DE" dirty="0" err="1"/>
              <a:t>ip</a:t>
            </a:r>
            <a:r>
              <a:rPr lang="de-DE" dirty="0"/>
              <a:t> title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b="1"/>
              <a:t>mgm technology partners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/>
              <a:t>Internationales Softwareunternehmen mit Hauptsitz in München. Seit 1994 entwickeln wir Enterprise-Software auf Basis modellgetriebener Methoden.</a:t>
            </a:r>
          </a:p>
          <a:p>
            <a:pPr marL="0" indent="0">
              <a:buNone/>
            </a:pPr>
            <a:r>
              <a:rPr lang="de-DE"/>
              <a:t>Unser Leitsatz: „Innovation Implemented“ – wir verbinden technologische Innovation mit zuverlässiger Umsetzung in bestehende IT-Landschaften.</a:t>
            </a:r>
          </a:p>
          <a:p>
            <a:pPr marL="0" indent="0">
              <a:buNone/>
            </a:pPr>
            <a:r>
              <a:rPr lang="de-DE"/>
              <a:t>Mit der A12 Enterprise AI Low Code Platform, Cloud-Infrastruktur (C12) und integrierten Beratungsleistungen begleiten wir Kunden von der Konzeption bis zum Betrieb.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Leistungen &amp; Plattformen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C5868D-7B93-B77D-E3BE-581A8EE031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8" name="Gruppieren 17"/>
          <p:cNvGrpSpPr/>
          <p:nvPr/>
        </p:nvGrpSpPr>
        <p:grpSpPr>
          <a:xfrm>
            <a:off x="3577696" y="1259967"/>
            <a:ext cx="5801710" cy="5801710"/>
            <a:chOff x="7031255" y="2002051"/>
            <a:chExt cx="3585716" cy="3585716"/>
          </a:xfrm>
        </p:grpSpPr>
        <p:sp>
          <p:nvSpPr>
            <p:cNvPr id="5" name="Halbbogen 4"/>
            <p:cNvSpPr/>
            <p:nvPr/>
          </p:nvSpPr>
          <p:spPr>
            <a:xfrm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99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Halbbogen 5"/>
            <p:cNvSpPr/>
            <p:nvPr/>
          </p:nvSpPr>
          <p:spPr>
            <a:xfrm rot="5400000"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565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Halbbogen 6"/>
            <p:cNvSpPr/>
            <p:nvPr/>
          </p:nvSpPr>
          <p:spPr>
            <a:xfrm rot="108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688D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8" name="Halbbogen 7"/>
            <p:cNvSpPr/>
            <p:nvPr/>
          </p:nvSpPr>
          <p:spPr>
            <a:xfrm rot="162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059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9" name="Halbbogen 8"/>
            <p:cNvSpPr/>
            <p:nvPr/>
          </p:nvSpPr>
          <p:spPr>
            <a:xfrm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0" name="Halbbogen 9"/>
            <p:cNvSpPr/>
            <p:nvPr/>
          </p:nvSpPr>
          <p:spPr>
            <a:xfrm rot="54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1" name="Halbbogen 10"/>
            <p:cNvSpPr/>
            <p:nvPr/>
          </p:nvSpPr>
          <p:spPr>
            <a:xfrm rot="108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2" name="Halbbogen 11"/>
            <p:cNvSpPr/>
            <p:nvPr/>
          </p:nvSpPr>
          <p:spPr>
            <a:xfrm rot="162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7" name="Plus 16"/>
            <p:cNvSpPr/>
            <p:nvPr/>
          </p:nvSpPr>
          <p:spPr>
            <a:xfrm>
              <a:off x="7031255" y="2002051"/>
              <a:ext cx="3585716" cy="3585716"/>
            </a:xfrm>
            <a:prstGeom prst="mathPlus">
              <a:avLst>
                <a:gd name="adj1" fmla="val 184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9" name="Gruppieren 18"/>
          <p:cNvGrpSpPr/>
          <p:nvPr/>
        </p:nvGrpSpPr>
        <p:grpSpPr>
          <a:xfrm>
            <a:off x="7301947" y="4991121"/>
            <a:ext cx="539667" cy="549714"/>
            <a:chOff x="-1351103" y="2702234"/>
            <a:chExt cx="553011" cy="605875"/>
          </a:xfrm>
        </p:grpSpPr>
        <p:grpSp>
          <p:nvGrpSpPr>
            <p:cNvPr id="20" name="Gruppieren 19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7" name="Ellipse 2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8" name="Gruppieren 2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9" name="Freihandform 2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0" name="Freihandform 2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1" name="Gruppieren 20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5" name="Ellipse 2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ihandform 25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2" name="Gruppieren 21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3" name="Ellipse 2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ihandform 23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1" name="Gruppieren 30"/>
          <p:cNvGrpSpPr/>
          <p:nvPr/>
        </p:nvGrpSpPr>
        <p:grpSpPr>
          <a:xfrm>
            <a:off x="7371808" y="2724809"/>
            <a:ext cx="547171" cy="602097"/>
            <a:chOff x="10670480" y="-120615"/>
            <a:chExt cx="578060" cy="633897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43" name="Gruppieren 4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45" name="Freihandform 4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6" name="Freihandform 4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4" name="Ellipse 4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3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3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47" name="Group 20"/>
          <p:cNvGrpSpPr>
            <a:grpSpLocks noChangeAspect="1"/>
          </p:cNvGrpSpPr>
          <p:nvPr/>
        </p:nvGrpSpPr>
        <p:grpSpPr bwMode="auto">
          <a:xfrm>
            <a:off x="5106297" y="4999249"/>
            <a:ext cx="545515" cy="564178"/>
            <a:chOff x="1353" y="258"/>
            <a:chExt cx="643" cy="665"/>
          </a:xfrm>
        </p:grpSpPr>
        <p:sp>
          <p:nvSpPr>
            <p:cNvPr id="4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54" name="Group 61"/>
          <p:cNvGrpSpPr>
            <a:grpSpLocks noChangeAspect="1"/>
          </p:cNvGrpSpPr>
          <p:nvPr/>
        </p:nvGrpSpPr>
        <p:grpSpPr bwMode="auto">
          <a:xfrm>
            <a:off x="5076165" y="2795274"/>
            <a:ext cx="537122" cy="536696"/>
            <a:chOff x="5216" y="1821"/>
            <a:chExt cx="1268" cy="1267"/>
          </a:xfrm>
        </p:grpSpPr>
        <p:sp>
          <p:nvSpPr>
            <p:cNvPr id="5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60" name="Textfeld 59"/>
          <p:cNvSpPr txBox="1"/>
          <p:nvPr/>
        </p:nvSpPr>
        <p:spPr>
          <a:xfrm>
            <a:off x="181917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Consulting &amp; Entwicklung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Digitale Beratung, Business-Analyse, UI/UX-Design und modellgetriebene Softwareentwicklung aus einer Hand.</a:t>
            </a:r>
          </a:p>
        </p:txBody>
      </p:sp>
      <p:sp>
        <p:nvSpPr>
          <p:cNvPr id="62" name="Textfeld 61"/>
          <p:cNvSpPr txBox="1"/>
          <p:nvPr/>
        </p:nvSpPr>
        <p:spPr>
          <a:xfrm>
            <a:off x="900064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A12 Low Code Platform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Enterprise AI Low Code Platform für komplexe Geschäftsanwendungen. Modellbasiert, KI-gestützt, skalierbar.</a:t>
            </a:r>
          </a:p>
        </p:txBody>
      </p:sp>
      <p:sp>
        <p:nvSpPr>
          <p:cNvPr id="64" name="Textfeld 63"/>
          <p:cNvSpPr txBox="1"/>
          <p:nvPr/>
        </p:nvSpPr>
        <p:spPr>
          <a:xfrm>
            <a:off x="181917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Cloud &amp; Security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C12 Cloud-Infrastruktur hosted in Deutschland. Penetrationstests und Quellcode-Analysen durch mgm security partners.</a:t>
            </a:r>
          </a:p>
        </p:txBody>
      </p:sp>
      <p:sp>
        <p:nvSpPr>
          <p:cNvPr id="65" name="Textfeld 64"/>
          <p:cNvSpPr txBox="1"/>
          <p:nvPr/>
        </p:nvSpPr>
        <p:spPr>
          <a:xfrm>
            <a:off x="900064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Qualitätssicherung</a:t>
            </a:r>
          </a:p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</a:rPr>
              <a:t>End-to-End QA mit Q12 Toolset. Testmanagement, automatisierte Tests und Performance-Validierung.</a:t>
            </a:r>
          </a:p>
        </p:txBody>
      </p:sp>
    </p:spTree>
    <p:extLst>
      <p:ext uri="{BB962C8B-B14F-4D97-AF65-F5344CB8AC3E}">
        <p14:creationId xmlns:p14="http://schemas.microsoft.com/office/powerpoint/2010/main" val="265807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Zahlen &amp; Fakten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A111FB2-249F-3F3D-59C3-E313FE3AA9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215059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06B8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1.000+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215059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>
                <a:latin typeface="Roboto" panose="02000000000000000000" pitchFamily="2" charset="0"/>
              </a:rPr>
              <a:t>Mitarbeiter an 19 Standorten in Europa, USA und Asien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559782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76A01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30+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559782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>
                <a:latin typeface="Roboto" panose="02000000000000000000" pitchFamily="2" charset="0"/>
              </a:rPr>
              <a:t>Jahre Erfahrung in Enterprise-Software seit Gründung 1994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9045060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Top 25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9045060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>
                <a:latin typeface="Roboto" panose="02000000000000000000" pitchFamily="2" charset="0"/>
              </a:rPr>
              <a:t>IT-Beratungen laut Lünendonk-Ranking. Top 10 E-Commerce (BVDW)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819174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7" name="Abgerundetes Rechteck 16"/>
          <p:cNvSpPr/>
          <p:nvPr/>
        </p:nvSpPr>
        <p:spPr>
          <a:xfrm>
            <a:off x="5296665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8718738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4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4" y="-9"/>
            <a:ext cx="3027684" cy="68580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62033" y="3034983"/>
            <a:ext cx="8036827" cy="792000"/>
          </a:xfrm>
        </p:spPr>
        <p:txBody>
          <a:bodyPr/>
          <a:lstStyle/>
          <a:p>
            <a:r>
              <a:rPr lang="de-DE" sz="3600" b="1"/>
              <a:t>Kunden &amp; Branchen</a:t>
            </a:r>
            <a:endParaRPr lang="de-DE" sz="3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62029" y="3896102"/>
            <a:ext cx="2592000" cy="4095078"/>
          </a:xfrm>
        </p:spPr>
        <p:txBody>
          <a:bodyPr/>
          <a:lstStyle/>
          <a:p>
            <a:pPr marL="0" indent="0">
              <a:buNone/>
            </a:pPr>
            <a:r>
              <a:rPr lang="de-DE" sz="1200" b="1" dirty="0"/>
              <a:t>Unsere Kunden:</a:t>
            </a:r>
          </a:p>
          <a:p>
            <a:pPr marL="0" indent="0">
              <a:buNone/>
            </a:pPr>
            <a:r>
              <a:rPr lang="de-DE" sz="1200" dirty="0"/>
              <a:t>Audi, BMW, Siemens, Allianz, DHL, E.ON</a:t>
            </a:r>
          </a:p>
          <a:p>
            <a:pPr marL="0" indent="0">
              <a:buNone/>
            </a:pPr>
            <a:r>
              <a:rPr lang="de-DE" sz="1200" dirty="0"/>
              <a:t>LIDL, Rossmann, Nespresso, BayWa, Vattenfall</a:t>
            </a:r>
          </a:p>
          <a:p>
            <a:pPr marL="0" indent="0">
              <a:buNone/>
            </a:pPr>
            <a:r>
              <a:rPr lang="de-DE" sz="1200" dirty="0"/>
              <a:t>Öffentliche Verwaltung und Versicherungen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2E403E1-E1A3-AEA4-3C1C-C24844E514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62031" y="2709002"/>
            <a:ext cx="8036827" cy="25289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641241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200" b="1"/>
              <a:t>Branchen:</a:t>
            </a:r>
          </a:p>
          <a:p>
            <a:pPr marL="0" indent="0">
              <a:buNone/>
            </a:pPr>
            <a:r>
              <a:rPr lang="de-DE" sz="1200"/>
              <a:t>Handel &amp; E-Commerce, Industrieversicherung, öffentliche Verwaltung, Gesundheitswesen</a:t>
            </a:r>
          </a:p>
        </p:txBody>
      </p:sp>
      <p:sp>
        <p:nvSpPr>
          <p:cNvPr id="19" name="Inhaltsplatzhalter 2"/>
          <p:cNvSpPr txBox="1">
            <a:spLocks/>
          </p:cNvSpPr>
          <p:nvPr/>
        </p:nvSpPr>
        <p:spPr>
          <a:xfrm>
            <a:off x="916384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200" b="1"/>
              <a:t>Auszeichnungen:</a:t>
            </a:r>
          </a:p>
          <a:p>
            <a:pPr marL="0" indent="0">
              <a:buNone/>
            </a:pPr>
            <a:r>
              <a:rPr lang="de-DE" sz="1200"/>
              <a:t>Top 10 E-Commerce (BVDW), Platin eGovernment Award, Top 10 IT-Beratung (DIE WELT)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4F3BAE0-2F09-AE9E-5DFD-3B922DA8C0BB}"/>
              </a:ext>
            </a:extLst>
          </p:cNvPr>
          <p:cNvGrpSpPr/>
          <p:nvPr/>
        </p:nvGrpSpPr>
        <p:grpSpPr>
          <a:xfrm>
            <a:off x="3562029" y="5622737"/>
            <a:ext cx="1330193" cy="313444"/>
            <a:chOff x="3562029" y="5513832"/>
            <a:chExt cx="1330193" cy="31344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4BC682-04ED-10FE-6171-6B29531D2859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08660E1-38E3-6B34-1633-4AAA73751EC2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Retail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82C9B07-42D8-93B1-555E-5CC84DAD8518}"/>
              </a:ext>
            </a:extLst>
          </p:cNvPr>
          <p:cNvGrpSpPr/>
          <p:nvPr/>
        </p:nvGrpSpPr>
        <p:grpSpPr>
          <a:xfrm>
            <a:off x="4927844" y="5622737"/>
            <a:ext cx="1330193" cy="313444"/>
            <a:chOff x="3562029" y="5513832"/>
            <a:chExt cx="1330193" cy="31344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1005747-8822-532B-EC56-56884DB2BADC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2F92C6A4-9965-83DB-387F-CC9824824AA6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Industrie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86451E4-496C-9218-A5D2-9F32D2BA3866}"/>
              </a:ext>
            </a:extLst>
          </p:cNvPr>
          <p:cNvGrpSpPr/>
          <p:nvPr/>
        </p:nvGrpSpPr>
        <p:grpSpPr>
          <a:xfrm>
            <a:off x="6293659" y="5622737"/>
            <a:ext cx="1330193" cy="313444"/>
            <a:chOff x="3562029" y="5513832"/>
            <a:chExt cx="1330193" cy="31344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A64AE0-6424-F3F6-C861-FDA0A6BAA590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DABD20C-E0FD-A5CA-E065-BD47CCBACF4A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Versicherung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9A14D0DE-23A2-17B0-0DBB-F9251CF4C183}"/>
              </a:ext>
            </a:extLst>
          </p:cNvPr>
          <p:cNvGrpSpPr/>
          <p:nvPr/>
        </p:nvGrpSpPr>
        <p:grpSpPr>
          <a:xfrm>
            <a:off x="7659474" y="5622737"/>
            <a:ext cx="1330193" cy="313444"/>
            <a:chOff x="3562029" y="5513832"/>
            <a:chExt cx="1330193" cy="31344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DB01EE-3A04-FED1-297D-5C4A6D909E7D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D6005492-3C77-6ACB-4C27-DC94611EB75B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Public Sector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C0A5CDE-F7C1-D803-8F6E-B0EC73A6EB44}"/>
              </a:ext>
            </a:extLst>
          </p:cNvPr>
          <p:cNvGrpSpPr/>
          <p:nvPr/>
        </p:nvGrpSpPr>
        <p:grpSpPr>
          <a:xfrm>
            <a:off x="9025288" y="5622737"/>
            <a:ext cx="1330193" cy="313444"/>
            <a:chOff x="3562029" y="5513832"/>
            <a:chExt cx="1330193" cy="3134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F154E3-F971-E2ED-F7DF-B99298105F26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38A4204-4215-3EE6-604F-86970314C815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Healthcare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956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technology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302</Words>
  <Application>Microsoft Macintosh PowerPoint</Application>
  <PresentationFormat>Breitbild</PresentationFormat>
  <Paragraphs>40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Roboto</vt:lpstr>
      <vt:lpstr>Roboto Black</vt:lpstr>
      <vt:lpstr>Arial</vt:lpstr>
      <vt:lpstr>Calibri</vt:lpstr>
      <vt:lpstr>Wingdings</vt:lpstr>
      <vt:lpstr>mgm Master</vt:lpstr>
      <vt:lpstr>mgm tp/sp/ip title</vt:lpstr>
      <vt:lpstr>mgm technology partners</vt:lpstr>
      <vt:lpstr>Leistungen &amp; Plattformen</vt:lpstr>
      <vt:lpstr>Zahlen &amp; Fakten</vt:lpstr>
      <vt:lpstr>Kunden &amp; Branchen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232</cp:revision>
  <dcterms:created xsi:type="dcterms:W3CDTF">2023-03-17T12:25:06Z</dcterms:created>
  <dcterms:modified xsi:type="dcterms:W3CDTF">2026-02-25T09:15:34Z</dcterms:modified>
</cp:coreProperties>
</file>