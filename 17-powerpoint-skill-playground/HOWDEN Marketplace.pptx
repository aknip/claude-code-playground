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0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48"/>
  </p:notesMasterIdLst>
  <p:sldIdLst>
    <p:sldId id="259" r:id="rId2"/>
    <p:sldId id="447" r:id="rId8"/>
    <p:sldId id="273" r:id="rId12"/>
    <p:sldId id="282" r:id="rId22"/>
    <p:sldId id="285" r:id="rId24"/>
    <p:sldId id="283" r:id="rId23"/>
    <p:sldId id="313" r:id="rId31"/>
    <p:sldId id="271" r:id="rId10"/>
    <p:sldId id="306" r:id="rId44"/>
    <p:sldId id="262" r:id="rId4"/>
  </p:sldIdLst>
  <p:sldSz cx="12192000" cy="6858000"/>
  <p:notesSz cx="6858000" cy="9144000"/>
  <p:embeddedFontLs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Black" panose="02000000000000000000" pitchFamily="2" charset="0"/>
      <p:bold r:id="rId53"/>
      <p:italic r:id="rId54"/>
      <p:boldItalic r:id="rId55"/>
    </p:embeddedFont>
  </p:embeddedFontLst>
  <p:defaultTextStyle>
    <a:defPPr>
      <a:defRPr lang="de-DE"/>
    </a:defPPr>
    <a:lvl1pPr marL="180975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720000" indent="-179388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900000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843"/>
    <a:srgbClr val="DD5A44"/>
    <a:srgbClr val="B2330A"/>
    <a:srgbClr val="FFBACC"/>
    <a:srgbClr val="FFE0EC"/>
    <a:srgbClr val="CE50A9"/>
    <a:srgbClr val="000000"/>
    <a:srgbClr val="F7DD6B"/>
    <a:srgbClr val="C6B67C"/>
    <a:srgbClr val="E3D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2" autoAdjust="0"/>
    <p:restoredTop sz="96534"/>
  </p:normalViewPr>
  <p:slideViewPr>
    <p:cSldViewPr snapToGrid="0">
      <p:cViewPr varScale="1">
        <p:scale>
          <a:sx n="147" d="100"/>
          <a:sy n="147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852"/>
    </p:cViewPr>
  </p:sorterViewPr>
  <p:notesViewPr>
    <p:cSldViewPr snapToGrid="0">
      <p:cViewPr varScale="1">
        <p:scale>
          <a:sx n="97" d="100"/>
          <a:sy n="97" d="100"/>
        </p:scale>
        <p:origin x="3976" y="20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2" Type="http://schemas.openxmlformats.org/officeDocument/2006/relationships/slide" Target="slides/slide1.xml"/><Relationship Id="rId24" Type="http://schemas.openxmlformats.org/officeDocument/2006/relationships/slide" Target="slides/slide23.xml"/><Relationship Id="rId53" Type="http://schemas.openxmlformats.org/officeDocument/2006/relationships/font" Target="fonts/font5.fntdata"/><Relationship Id="rId58" Type="http://schemas.openxmlformats.org/officeDocument/2006/relationships/theme" Target="theme/theme1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48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12" Type="http://schemas.openxmlformats.org/officeDocument/2006/relationships/slide" Target="slides/slide11.xml"/><Relationship Id="rId59" Type="http://schemas.openxmlformats.org/officeDocument/2006/relationships/tableStyles" Target="tableStyles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23" Type="http://schemas.openxmlformats.org/officeDocument/2006/relationships/slide" Target="slides/slide22.xml"/><Relationship Id="rId49" Type="http://schemas.openxmlformats.org/officeDocument/2006/relationships/font" Target="fonts/font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345B1-DE98-9444-B521-97D65F2AE574}" type="datetimeFigureOut">
              <a:t>27.01.26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2815C-8F25-FB4E-9113-C31DBF85D55C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11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9E76539-A55F-8733-56BB-D7FF3CEBB7FE}"/>
              </a:ext>
            </a:extLst>
          </p:cNvPr>
          <p:cNvSpPr/>
          <p:nvPr userDrawn="1"/>
        </p:nvSpPr>
        <p:spPr>
          <a:xfrm>
            <a:off x="10424160" y="250257"/>
            <a:ext cx="941420" cy="34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sp>
        <p:nvSpPr>
          <p:cNvPr id="4" name="Textplatzhalter 21">
            <a:extLst>
              <a:ext uri="{FF2B5EF4-FFF2-40B4-BE49-F238E27FC236}">
                <a16:creationId xmlns:a16="http://schemas.microsoft.com/office/drawing/2014/main" id="{4C7E215F-9A03-83E7-DEFF-17F70EA0A2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828776" y="6396073"/>
            <a:ext cx="1536804" cy="15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None/>
              <a:defRPr sz="900" b="0" i="0" baseline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1pPr>
            <a:lvl2pPr marL="644400" indent="-284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sz="1200" b="0" i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2pPr>
            <a:lvl3pPr marL="100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3pPr>
            <a:lvl4pPr marL="136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4pPr>
            <a:lvl5pPr marL="172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5pPr>
            <a:lvl6pPr marL="2341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798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255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713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de-DE" sz="600" b="0" i="0" kern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Innovation Implemented.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C1AD748-269B-A6F1-E47D-C2417F82A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4451" y="4804908"/>
            <a:ext cx="9482727" cy="240348"/>
          </a:xfrm>
        </p:spPr>
        <p:txBody>
          <a:bodyPr anchor="t"/>
          <a:lstStyle>
            <a:lvl1pPr marL="0" indent="0">
              <a:buNone/>
              <a:defRPr sz="1600" b="0" i="0" cap="none" spc="2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2F3969-4D5C-BE17-F6D5-8113D4477B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4451" y="5351254"/>
            <a:ext cx="9482727" cy="838231"/>
          </a:xfrm>
        </p:spPr>
        <p:txBody>
          <a:bodyPr anchor="t"/>
          <a:lstStyle>
            <a:lvl1pPr marL="0" indent="0">
              <a:buNone/>
              <a:defRPr sz="1000" b="0" i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Name Vortragende</a:t>
            </a:r>
            <a:br>
              <a:rPr lang="de-DE" dirty="0"/>
            </a:br>
            <a:r>
              <a:rPr lang="de-DE" dirty="0"/>
              <a:t>Name Vortragender</a:t>
            </a:r>
            <a:br>
              <a:rPr lang="de-DE" dirty="0"/>
            </a:br>
            <a:r>
              <a:rPr lang="de-DE" dirty="0"/>
              <a:t>Ort,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5D18FD-9399-C365-234D-791B26B6E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256668"/>
            <a:ext cx="9488214" cy="467706"/>
          </a:xfrm>
        </p:spPr>
        <p:txBody>
          <a:bodyPr vert="horz" anchor="b" anchorCtr="0"/>
          <a:lstStyle>
            <a:lvl1pPr>
              <a:defRPr sz="3200" b="1" i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Präsentationstitel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A54F90-7B0C-C8D3-29BB-E79494DEF97F}"/>
              </a:ext>
            </a:extLst>
          </p:cNvPr>
          <p:cNvSpPr txBox="1"/>
          <p:nvPr userDrawn="1"/>
        </p:nvSpPr>
        <p:spPr>
          <a:xfrm>
            <a:off x="3530008" y="5762847"/>
            <a:ext cx="45719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6678F4-0D7C-E90A-841C-8AAA20005F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6615657"/>
            <a:ext cx="12192000" cy="242343"/>
          </a:xfrm>
          <a:prstGeom prst="rect">
            <a:avLst/>
          </a:prstGeom>
        </p:spPr>
      </p:pic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75892F98-DB25-1B04-EF56-86C191E42B5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1" y="4084519"/>
            <a:ext cx="9489604" cy="146749"/>
          </a:xfrm>
        </p:spPr>
        <p:txBody>
          <a:bodyPr lIns="0" tIns="0" rIns="0" bIns="0" anchor="t"/>
          <a:lstStyle>
            <a:lvl1pPr marL="0" indent="0">
              <a:buNone/>
              <a:defRPr lang="de-DE" sz="100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>
              <a:spcAft>
                <a:spcPts val="0"/>
              </a:spcAft>
            </a:pPr>
            <a:r>
              <a:rPr lang="de-DE" dirty="0"/>
              <a:t>Topheadline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E1C7FB8-0706-0DBE-7C9B-57732C8CDD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8398" y="499913"/>
            <a:ext cx="1440000" cy="5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86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8B3BF-B3AD-FA19-A082-03FD2603C9EA}"/>
              </a:ext>
            </a:extLst>
          </p:cNvPr>
          <p:cNvSpPr/>
          <p:nvPr userDrawn="1"/>
        </p:nvSpPr>
        <p:spPr>
          <a:xfrm>
            <a:off x="0" y="2060848"/>
            <a:ext cx="12192000" cy="4906237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65F91-412A-7834-F589-04E6F5AB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DC7598-E0BA-DDA8-A831-A5E1A437A6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737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8D904CB-06BF-149E-BEFD-780E6DB14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9176" y="657285"/>
            <a:ext cx="951602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19176" y="2060848"/>
            <a:ext cx="9516024" cy="4212952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0D07B19-3F5D-63D8-9046-3FCED0E2AD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23588D0-9E8B-EBEE-90E1-FAD56574499D}"/>
              </a:ext>
            </a:extLst>
          </p:cNvPr>
          <p:cNvSpPr txBox="1"/>
          <p:nvPr userDrawn="1"/>
        </p:nvSpPr>
        <p:spPr>
          <a:xfrm>
            <a:off x="7498080" y="73266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57056FF-74D1-1D34-0D95-CDCBA6BF1542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0D9643B-3D84-AB93-4562-8A57ACDF759A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9610011-D6FD-EB89-25FA-2C292A65732B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34328F4-17C1-8693-A15A-570EB469A2CA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6BC278E-967B-E194-DD96-7FFA4F3E1721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371A96F-0B14-9EDA-CE09-791205E76EB0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B077F12-2EED-7F97-7B0F-CB9FFCC5F0F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46BD466-6D9C-9ADC-794C-971607531063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FCA0E16-4CDA-CD68-8210-1B3B6A274783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943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D96EF3A-016B-FDFB-9078-5C8C0906C7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5DADB3F-B952-1B72-EA1A-D4AB16137F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34707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247E1C4-F082-43D9-52E8-A7E6867D89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28800" y="4285464"/>
            <a:ext cx="9501934" cy="1816886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29" name="Inhaltsplatzhalter 5">
            <a:extLst>
              <a:ext uri="{FF2B5EF4-FFF2-40B4-BE49-F238E27FC236}">
                <a16:creationId xmlns:a16="http://schemas.microsoft.com/office/drawing/2014/main" id="{1C683C6A-43DB-0EC6-4D0A-BAB34B601A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521FDC6-A303-5E71-3406-E967687D535B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7B72CCE-473E-35F5-BE52-1DD204BA6908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6F7CD0-BDDD-C8B1-BF87-291A6100728A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6ABE10F-8167-1E5C-6159-B57135739062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DFCE2A-2C98-8C08-5273-439CBCE446F7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1CB8D3F-3599-63F2-696D-16F36617B0FF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CD263AF-CF1E-376D-2159-73191B4D98B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9F7CD19-C4CE-08A1-ECFD-ECD53C28B36D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F4ED99D-2C70-6C17-FFE1-37099372FEC9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5998F7A5-AAED-1D27-FFBA-EAD891701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7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569E470-1313-7BE3-4726-DE5C84CDC4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9B1477F-B1C6-B12C-5DE7-7181E952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2356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7" name="Inhaltsplatzhalter 5">
            <a:extLst>
              <a:ext uri="{FF2B5EF4-FFF2-40B4-BE49-F238E27FC236}">
                <a16:creationId xmlns:a16="http://schemas.microsoft.com/office/drawing/2014/main" id="{A90EC96C-A5AD-35FA-2E52-0FEB4BF22E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706AEDA-9DA7-A0F3-7A4A-F6425640C82E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0D61E5-BDBB-C504-4830-B6626883B74D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2F6A1E0-49DC-34D9-7015-253F5721A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047CDEA-DE65-6D68-58D6-9799AF11C3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FED1D99-2B6C-3DAB-68F7-A5493FA7480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A0A691E-3D6D-C372-74D0-4E2DA0D84F8D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5F019BD-B7CD-FFA1-C968-4560AFC04230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F6A5825-13AE-F685-A760-FF26031857E9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B513CA7-6006-991D-24EA-C7573E5820C2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D77409B-B8ED-6A5F-2D04-0F712F9D6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8396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1" y="657285"/>
            <a:ext cx="9513506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0028" y="2060848"/>
            <a:ext cx="951350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7FCEB4-3CF3-A3FF-76BB-A96F9554A0F7}"/>
              </a:ext>
            </a:extLst>
          </p:cNvPr>
          <p:cNvSpPr txBox="1"/>
          <p:nvPr userDrawn="1"/>
        </p:nvSpPr>
        <p:spPr>
          <a:xfrm rot="16200000">
            <a:off x="-1515830" y="4300252"/>
            <a:ext cx="3512719" cy="120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8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Page: </a:t>
            </a:r>
            <a:fld id="{F10DCDC4-4595-B74E-8DBA-09DC9720EAE7}" type="slidenum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‹Nr.›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 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  </a:t>
            </a:r>
            <a:fld id="{D1E5DAEC-660C-FA4F-97E2-A72D48222653}" type="datetime3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27/01/2026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  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Confidentiality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level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: </a:t>
            </a:r>
            <a:r>
              <a:rPr lang="de-DE" sz="700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Internal</a:t>
            </a:r>
            <a:endParaRPr lang="de-DE" sz="700" b="0" i="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F83F70B-B5DD-C68E-5926-CE7FA429C454}"/>
              </a:ext>
            </a:extLst>
          </p:cNvPr>
          <p:cNvGrpSpPr/>
          <p:nvPr userDrawn="1"/>
        </p:nvGrpSpPr>
        <p:grpSpPr>
          <a:xfrm>
            <a:off x="10013291" y="6283206"/>
            <a:ext cx="1342943" cy="32400"/>
            <a:chOff x="10117877" y="5760104"/>
            <a:chExt cx="1342943" cy="32400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763D1BF-9B08-90BA-4F8C-01B6CB0533D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0B7D466-F044-1E13-6818-3B1364AB4BF9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F1CAB54-4009-B962-7476-5FB40B9C8A5F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5551AF9A-9C49-E5D3-7464-9C964026259A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4C77E23-0B61-D024-1ACC-597FF958642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0239498-8851-ACAA-4FB4-E5E2F9823AF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0A40F38-6E8C-BDB6-10BC-F58509866F3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BF70B4A-DDCA-31E8-A2D7-60CEFC3C6E7A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4D6E508-ED0A-9042-EED4-27A51C8C1DE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7" r:id="rId4"/>
    <p:sldLayoutId id="2147483665" r:id="rId5"/>
    <p:sldLayoutId id="2147483666" r:id="rId6"/>
  </p:sldLayoutIdLst>
  <p:hf sldNum="0" hdr="0" ftr="0"/>
  <p:txStyles>
    <p:titleStyle>
      <a:lvl1pPr algn="l" defTabSz="1800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180975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36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54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720000" indent="-179388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900000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hyperlink" Target="mailto:info@mgm-tp.com" TargetMode="External"/><Relationship Id="rId2" Type="http://schemas.openxmlformats.org/officeDocument/2006/relationships/hyperlink" Target="http://www.mgm-tp.com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C81D06C-C1FF-0639-3384-DC967736D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77E88CE-6D75-3236-B0F7-1016BE2E3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HOWDEN Kfz Marktplatz</a:t>
            </a:r>
          </a:p>
          <a:p>
            <a:r>
              <a:rPr lang="de-DE" sz="1800" dirty="0"/>
              <a:t>Projektkonzept &amp; Angebot</a:t>
            </a:r>
          </a:p>
        </p:txBody>
      </p:sp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C05C1BFD-6E1C-F71A-3790-C72C22CC20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DED23-8960-47CB-D088-589245A3138E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 xml:space="preserve">München/HQ    Aachen    Bamberg    Berlin    </a:t>
            </a:r>
            <a:r>
              <a:rPr lang="de-DE" sz="600" dirty="0" err="1">
                <a:latin typeface="Roboto" panose="02000000000000000000" pitchFamily="2" charset="0"/>
              </a:rPr>
              <a:t>Đà</a:t>
            </a:r>
            <a:r>
              <a:rPr lang="de-DE" sz="600" dirty="0">
                <a:latin typeface="Roboto" panose="02000000000000000000" pitchFamily="2" charset="0"/>
              </a:rPr>
              <a:t xml:space="preserve"> </a:t>
            </a:r>
            <a:r>
              <a:rPr lang="de-DE" sz="600" dirty="0" err="1">
                <a:latin typeface="Roboto" panose="02000000000000000000" pitchFamily="2" charset="0"/>
              </a:rPr>
              <a:t>Nẵng</a:t>
            </a:r>
            <a:r>
              <a:rPr lang="de-DE" sz="600" dirty="0">
                <a:latin typeface="Roboto" panose="02000000000000000000" pitchFamily="2" charset="0"/>
              </a:rPr>
              <a:t xml:space="preserve">    Dresden   Geretsried    Grenoble    Hamburg    </a:t>
            </a:r>
            <a:r>
              <a:rPr lang="de-DE" sz="600" dirty="0" err="1">
                <a:latin typeface="Roboto" panose="02000000000000000000" pitchFamily="2" charset="0"/>
              </a:rPr>
              <a:t>Hồ</a:t>
            </a:r>
            <a:r>
              <a:rPr lang="de-DE" sz="600" dirty="0">
                <a:latin typeface="Roboto" panose="02000000000000000000" pitchFamily="2" charset="0"/>
              </a:rPr>
              <a:t xml:space="preserve"> </a:t>
            </a:r>
            <a:r>
              <a:rPr lang="de-DE" sz="600" dirty="0" err="1">
                <a:latin typeface="Roboto" panose="02000000000000000000" pitchFamily="2" charset="0"/>
              </a:rPr>
              <a:t>Chí</a:t>
            </a:r>
            <a:r>
              <a:rPr lang="de-DE" sz="600" dirty="0">
                <a:latin typeface="Roboto" panose="02000000000000000000" pitchFamily="2" charset="0"/>
              </a:rPr>
              <a:t xml:space="preserve"> Minh City    Köln    Landshut    Leipzig    Nürnberg    Porto   Praha    Salzburg    Stuttgart    Washington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EDCABF5-EB64-5C67-E5F7-E65A0E898BC8}"/>
              </a:ext>
            </a:extLst>
          </p:cNvPr>
          <p:cNvSpPr txBox="1"/>
          <p:nvPr/>
        </p:nvSpPr>
        <p:spPr>
          <a:xfrm>
            <a:off x="288235" y="44626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62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2135560" y="2060848"/>
            <a:ext cx="9181454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 err="1"/>
              <a:t>mgm</a:t>
            </a:r>
            <a:r>
              <a:rPr lang="de-DE" sz="1000" dirty="0"/>
              <a:t xml:space="preserve"> </a:t>
            </a:r>
            <a:r>
              <a:rPr lang="de-DE" sz="1000" dirty="0" err="1"/>
              <a:t>technology</a:t>
            </a:r>
            <a:r>
              <a:rPr lang="de-DE" sz="1000" dirty="0"/>
              <a:t xml:space="preserve"> </a:t>
            </a:r>
            <a:r>
              <a:rPr lang="de-DE" sz="1000" dirty="0" err="1"/>
              <a:t>partners</a:t>
            </a:r>
            <a:r>
              <a:rPr lang="de-DE" sz="1000" dirty="0"/>
              <a:t xml:space="preserve"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Taunusstr. 23</a:t>
            </a:r>
            <a:br>
              <a:rPr lang="de-DE" sz="1000" dirty="0"/>
            </a:br>
            <a:r>
              <a:rPr lang="de-DE" sz="1000" dirty="0"/>
              <a:t>80807 München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89 / 35 86 80-0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www.mgm-tp.com</a:t>
            </a:r>
            <a:r>
              <a:rPr lang="de-DE" sz="1000" dirty="0"/>
              <a:t xml:space="preserve"> 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info@mgm-tp.com</a:t>
            </a:r>
            <a:r>
              <a:rPr lang="de-DE" sz="1000" dirty="0"/>
              <a:t xml:space="preserve"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702FE8A-0292-091C-2C1F-C5874431CFDA}"/>
              </a:ext>
            </a:extLst>
          </p:cNvPr>
          <p:cNvSpPr/>
          <p:nvPr/>
        </p:nvSpPr>
        <p:spPr>
          <a:xfrm>
            <a:off x="1668780" y="4239744"/>
            <a:ext cx="9661954" cy="400050"/>
          </a:xfrm>
          <a:prstGeom prst="rect">
            <a:avLst/>
          </a:prstGeom>
          <a:solidFill>
            <a:srgbClr val="4E5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742F818-E435-1497-1BCB-9F813150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E147C9-A8EF-A1B6-DE5F-EA3B5B15E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b="1" dirty="0"/>
              <a:t>Projektüberblick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Geschäftsmodell &amp; Architektur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Produkte &amp; Projektumfang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Zeitplanung &amp; Aufwand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Zusammenfassung &amp; Kennzahlen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B3C59AA-F977-EAB4-E591-DB6E0C42E6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60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Aufwandsschätzung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425227"/>
              </p:ext>
            </p:extLst>
          </p:nvPr>
        </p:nvGraphicFramePr>
        <p:xfrm>
          <a:off x="1819275" y="2060575"/>
          <a:ext cx="9515472" cy="3708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78868">
                  <a:extLst>
                    <a:ext uri="{9D8B030D-6E8A-4147-A177-3AD203B41FA5}">
                      <a16:colId xmlns:a16="http://schemas.microsoft.com/office/drawing/2014/main" val="34021415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29291619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4069730624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374675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1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Phase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1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Beschreibung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1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Dauer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1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Aufwand (PT)</a:t>
                      </a: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2816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Phase 1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Homepage &amp; Reparaturkostenversicherung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6 Wochen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45 PT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Phase 2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Website Content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2 Wochen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12 PT</a:t>
                      </a: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5528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Phase 3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Folgeprodukte 2–4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4 Wochen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30 PT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Phase 4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Anfrageprodukt (TVM)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1 Woche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8 PT</a:t>
                      </a: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3697950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Phase 5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Deployment &amp; Security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2 Wochen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15 PT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9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Phase 6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Finale Testphase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2 Wochen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12 PT</a:t>
                      </a: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56057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1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Gesamt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1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~16 Wochen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122 PT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80824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A2C2EB-B75F-DE4E-1ED9-C0A27F0B6E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01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7591524" cy="792000"/>
          </a:xfrm>
        </p:spPr>
        <p:txBody>
          <a:bodyPr/>
          <a:lstStyle/>
          <a:p>
            <a:r>
              <a:rPr lang="de-DE" b="1" dirty="0"/>
              <a:t>Projektüberblick</a:t>
            </a:r>
            <a:endParaRPr lang="de-DE" b="1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75915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Der HOWDEN Kfz Marktplatz ist eine öffentlich zugängliche Online-Plattform für Endkunden zum Abschluss spezialisierter Kfz-Versicherungsprodukte.</a:t>
            </a:r>
          </a:p>
          <a:p>
            <a:pPr marL="0" indent="0">
              <a:buNone/>
            </a:pPr>
            <a:r>
              <a:rPr lang="de-DE" dirty="0"/>
              <a:t>HOWDEN agiert ausschließlich als Vermittler — nach der Anfrage oder dem Vertragsabschluss übernimmt der jeweilige Versicherer die gesamte weitere Kundenkommunikation.</a:t>
            </a:r>
          </a:p>
          <a:p>
            <a:pPr marL="0" indent="0">
              <a:buNone/>
            </a:pPr>
            <a:r>
              <a:rPr lang="de-DE" dirty="0"/>
              <a:t>Die Plattform bietet zwei Vermittlungsarten: Direktabschluss mit vollautomatisierter Dunkelverarbeitung und Anfrage per E-Mail an den Versicherer.</a:t>
            </a:r>
          </a:p>
          <a:p>
            <a:pPr marL="0" indent="0">
              <a:buNone/>
            </a:pPr>
            <a:r>
              <a:rPr lang="de-DE" dirty="0"/>
              <a:t>Technische Basis ist eine React SPA mit responsivem Mobile-First-Design, standardisiertem Wizard-Prozess und Credit Life API-Integration.</a:t>
            </a:r>
            <a:endParaRPr lang="de-DE" sz="16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F233981-10DF-E64F-DC15-BF7A30F24D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19174" y="331304"/>
            <a:ext cx="8068814" cy="252896"/>
          </a:xfrm>
        </p:spPr>
        <p:txBody>
          <a:bodyPr/>
          <a:lstStyle/>
          <a:p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8343" y="0"/>
            <a:ext cx="2183657" cy="685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911C2B-2661-23B1-19C2-8E0856F3F3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47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Geschäftsmodell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C5E74BC-1319-5D63-07E2-75255F51EB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7183" y="2060848"/>
            <a:ext cx="2983198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819176" y="2054572"/>
            <a:ext cx="2991204" cy="956602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46" name="Rechteck 45"/>
          <p:cNvSpPr/>
          <p:nvPr/>
        </p:nvSpPr>
        <p:spPr>
          <a:xfrm>
            <a:off x="1819176" y="3019824"/>
            <a:ext cx="2991204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819174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b="1" dirty="0">
                <a:latin typeface="Roboto Black" panose="02000000000000000000" pitchFamily="2" charset="0"/>
                <a:ea typeface="Roboto Black" panose="02000000000000000000" pitchFamily="2" charset="0"/>
              </a:rPr>
              <a:t>Direktabschluss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2008616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Vollautomatisierte Dunkelverarbeitung: Tarifberechnung, Dokumentenerstellung (PDF) und Übermittlung an das Bestandssystem des Versicherers per API.</a:t>
            </a:r>
          </a:p>
        </p:txBody>
      </p:sp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7115" y="2060848"/>
            <a:ext cx="2996221" cy="958974"/>
          </a:xfrm>
          <a:prstGeom prst="rect">
            <a:avLst/>
          </a:prstGeom>
        </p:spPr>
      </p:pic>
      <p:sp>
        <p:nvSpPr>
          <p:cNvPr id="117" name="Textfeld 116"/>
          <p:cNvSpPr txBox="1"/>
          <p:nvPr/>
        </p:nvSpPr>
        <p:spPr>
          <a:xfrm>
            <a:off x="8297074" y="2060847"/>
            <a:ext cx="2991205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831213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8297074" y="3846192"/>
            <a:ext cx="299120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b="1" dirty="0">
                <a:latin typeface="Roboto Black" panose="02000000000000000000" pitchFamily="2" charset="0"/>
                <a:ea typeface="Roboto Black" panose="02000000000000000000" pitchFamily="2" charset="0"/>
              </a:rPr>
              <a:t>Credit Life Integration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8486516" y="4373754"/>
            <a:ext cx="2660743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Einheitliche API-Integration über alle Direktprodukte hinweg. Eine einzige Anbindung deckt Prämienberechnung, Dokumentenerstellung und Policenübermittlung ab.</a:t>
            </a:r>
          </a:p>
        </p:txBody>
      </p:sp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3413" y="2060848"/>
            <a:ext cx="2991205" cy="958976"/>
          </a:xfrm>
          <a:prstGeom prst="rect">
            <a:avLst/>
          </a:prstGeom>
        </p:spPr>
      </p:pic>
      <p:sp>
        <p:nvSpPr>
          <p:cNvPr id="106" name="Textfeld 105"/>
          <p:cNvSpPr txBox="1"/>
          <p:nvPr/>
        </p:nvSpPr>
        <p:spPr>
          <a:xfrm>
            <a:off x="5062836" y="2060847"/>
            <a:ext cx="2981780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06345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053411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b="1" dirty="0">
                <a:latin typeface="Roboto Black" panose="02000000000000000000" pitchFamily="2" charset="0"/>
                <a:ea typeface="Roboto Black" panose="02000000000000000000" pitchFamily="2" charset="0"/>
              </a:rPr>
              <a:t>Anfrage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242853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Strukturiertes Anfrageformular mit E-Mail-Versand an den Versicherer. Der Versicherer kontaktiert den Kunden direkt mit einem individuellen Angebot.</a:t>
            </a:r>
          </a:p>
        </p:txBody>
      </p:sp>
      <p:grpSp>
        <p:nvGrpSpPr>
          <p:cNvPr id="91" name="Gruppieren 90"/>
          <p:cNvGrpSpPr/>
          <p:nvPr/>
        </p:nvGrpSpPr>
        <p:grpSpPr>
          <a:xfrm>
            <a:off x="6305806" y="3277204"/>
            <a:ext cx="506334" cy="438235"/>
            <a:chOff x="2543342" y="3363914"/>
            <a:chExt cx="349250" cy="317501"/>
          </a:xfrm>
        </p:grpSpPr>
        <p:sp>
          <p:nvSpPr>
            <p:cNvPr id="92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4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0" name="Gruppieren 99"/>
          <p:cNvGrpSpPr/>
          <p:nvPr/>
        </p:nvGrpSpPr>
        <p:grpSpPr>
          <a:xfrm>
            <a:off x="3110201" y="3203192"/>
            <a:ext cx="452313" cy="495550"/>
            <a:chOff x="-1351103" y="2702234"/>
            <a:chExt cx="553011" cy="605875"/>
          </a:xfrm>
        </p:grpSpPr>
        <p:grpSp>
          <p:nvGrpSpPr>
            <p:cNvPr id="101" name="Gruppieren 10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113" name="Ellipse 11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14" name="Gruppieren 11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116" name="Freihandform 11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1" name="Freihandform 12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102" name="Gruppieren 10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111" name="Ellipse 11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2" name="Freihandform 111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3" name="Gruppieren 10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105" name="Ellipse 10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0" name="Freihandform 109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22" name="Gruppieren 121"/>
          <p:cNvGrpSpPr/>
          <p:nvPr/>
        </p:nvGrpSpPr>
        <p:grpSpPr>
          <a:xfrm>
            <a:off x="9555432" y="3215853"/>
            <a:ext cx="499586" cy="499586"/>
            <a:chOff x="2020734" y="5176425"/>
            <a:chExt cx="361950" cy="361950"/>
          </a:xfrm>
        </p:grpSpPr>
        <p:sp>
          <p:nvSpPr>
            <p:cNvPr id="12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2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3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055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6772" y="2060848"/>
            <a:ext cx="1860564" cy="958976"/>
          </a:xfrm>
          <a:prstGeom prst="rect">
            <a:avLst/>
          </a:prstGeom>
        </p:spPr>
      </p:pic>
      <p:pic>
        <p:nvPicPr>
          <p:cNvPr id="137" name="Grafik 13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3714825" y="2060848"/>
            <a:ext cx="1869928" cy="958976"/>
          </a:xfrm>
          <a:prstGeom prst="rect">
            <a:avLst/>
          </a:prstGeom>
        </p:spPr>
      </p:pic>
      <p:pic>
        <p:nvPicPr>
          <p:cNvPr id="138" name="Grafik 137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83679" y="2060848"/>
            <a:ext cx="1863684" cy="958974"/>
          </a:xfrm>
          <a:prstGeom prst="rect">
            <a:avLst/>
          </a:prstGeom>
        </p:spPr>
      </p:pic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1733" y="2060848"/>
            <a:ext cx="1863685" cy="958974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3717838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5636771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555704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9474636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3714" y="2060848"/>
            <a:ext cx="1855583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798905" y="2060847"/>
            <a:ext cx="1860563" cy="95032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Projektumfang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A588D42-E262-F761-C971-74A00CA6DFD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6" name="Rechteck 45"/>
          <p:cNvSpPr/>
          <p:nvPr/>
        </p:nvSpPr>
        <p:spPr>
          <a:xfrm>
            <a:off x="1798905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798905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b="1" dirty="0">
                <a:latin typeface="Roboto Black" panose="02000000000000000000" pitchFamily="2" charset="0"/>
                <a:ea typeface="Roboto Black" panose="02000000000000000000" pitchFamily="2" charset="0"/>
              </a:rPr>
              <a:t>Homepage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1912675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Werbliche Landingpage mit Produktübersicht und Call-to-Action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2505225" y="3312641"/>
            <a:ext cx="399627" cy="333947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93" name="Rechteck 92"/>
          <p:cNvSpPr/>
          <p:nvPr/>
        </p:nvSpPr>
        <p:spPr>
          <a:xfrm>
            <a:off x="3720852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6" name="Textfeld 95"/>
          <p:cNvSpPr txBox="1"/>
          <p:nvPr/>
        </p:nvSpPr>
        <p:spPr>
          <a:xfrm>
            <a:off x="3717838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b="1" dirty="0">
                <a:latin typeface="Roboto Black" panose="02000000000000000000" pitchFamily="2" charset="0"/>
                <a:ea typeface="Roboto Black" panose="02000000000000000000" pitchFamily="2" charset="0"/>
              </a:rPr>
              <a:t>Produktseiten</a:t>
            </a:r>
          </a:p>
        </p:txBody>
      </p:sp>
      <p:sp>
        <p:nvSpPr>
          <p:cNvPr id="97" name="Textfeld 96"/>
          <p:cNvSpPr txBox="1"/>
          <p:nvPr/>
        </p:nvSpPr>
        <p:spPr>
          <a:xfrm>
            <a:off x="3831608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Informationsseite pro Produkt mit Leistungen, Deckung und FAQs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642799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636771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b="1" dirty="0">
                <a:latin typeface="Roboto Black" panose="02000000000000000000" pitchFamily="2" charset="0"/>
                <a:ea typeface="Roboto Black" panose="02000000000000000000" pitchFamily="2" charset="0"/>
              </a:rPr>
              <a:t>Rechner / Wizard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750541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Mehrstufiger Abschluss-Wizard mit produktspezifischen Schritten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7564745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7555704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b="1" dirty="0">
                <a:latin typeface="Roboto Black" panose="02000000000000000000" pitchFamily="2" charset="0"/>
                <a:ea typeface="Roboto Black" panose="02000000000000000000" pitchFamily="2" charset="0"/>
              </a:rPr>
              <a:t>API-Integration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7669474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Credit Life Anbindung für Berechnung, PDF und Policenübermittlung</a:t>
            </a:r>
          </a:p>
        </p:txBody>
      </p:sp>
      <p:sp>
        <p:nvSpPr>
          <p:cNvPr id="126" name="Rechteck 125"/>
          <p:cNvSpPr/>
          <p:nvPr/>
        </p:nvSpPr>
        <p:spPr>
          <a:xfrm>
            <a:off x="9486691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Textfeld 128"/>
          <p:cNvSpPr txBox="1"/>
          <p:nvPr/>
        </p:nvSpPr>
        <p:spPr>
          <a:xfrm>
            <a:off x="9474636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b="1" dirty="0">
                <a:latin typeface="Roboto Black" panose="02000000000000000000" pitchFamily="2" charset="0"/>
                <a:ea typeface="Roboto Black" panose="02000000000000000000" pitchFamily="2" charset="0"/>
              </a:rPr>
              <a:t>Responsive &amp; DSGVO</a:t>
            </a:r>
          </a:p>
        </p:txBody>
      </p:sp>
      <p:sp>
        <p:nvSpPr>
          <p:cNvPr id="130" name="Textfeld 129"/>
          <p:cNvSpPr txBox="1"/>
          <p:nvPr/>
        </p:nvSpPr>
        <p:spPr>
          <a:xfrm>
            <a:off x="9588406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Mobile-First Design, SEO-Grundlagen, Cookie Consent und Sicherheitsaudit</a:t>
            </a:r>
          </a:p>
        </p:txBody>
      </p:sp>
      <p:grpSp>
        <p:nvGrpSpPr>
          <p:cNvPr id="63" name="Gruppieren 62"/>
          <p:cNvGrpSpPr/>
          <p:nvPr/>
        </p:nvGrpSpPr>
        <p:grpSpPr>
          <a:xfrm>
            <a:off x="4443687" y="3292993"/>
            <a:ext cx="356991" cy="377623"/>
            <a:chOff x="-1351103" y="2702234"/>
            <a:chExt cx="553011" cy="605875"/>
          </a:xfrm>
        </p:grpSpPr>
        <p:grpSp>
          <p:nvGrpSpPr>
            <p:cNvPr id="64" name="Gruppieren 63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71" name="Ellipse 7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72" name="Gruppieren 71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73" name="Freihandform 72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4" name="Freihandform 73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65" name="Gruppieren 64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69" name="Ellipse 68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0" name="Freihandform 69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66" name="Gruppieren 65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67" name="Ellipse 6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8" name="Freihandform 67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52" name="Gruppieren 51"/>
          <p:cNvGrpSpPr/>
          <p:nvPr/>
        </p:nvGrpSpPr>
        <p:grpSpPr>
          <a:xfrm>
            <a:off x="8234673" y="3265890"/>
            <a:ext cx="394301" cy="380698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6377045" y="3292556"/>
            <a:ext cx="385654" cy="374019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10206637" y="3193909"/>
            <a:ext cx="406203" cy="430072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163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 Versicherungsprodukte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C8D0697-3093-D586-243C-B240A76BC7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4" name="Textfeld 43"/>
          <p:cNvSpPr txBox="1"/>
          <p:nvPr/>
        </p:nvSpPr>
        <p:spPr>
          <a:xfrm>
            <a:off x="9222652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" panose="02000000000000000000" pitchFamily="2" charset="0"/>
                <a:ea typeface="Roboto" panose="02000000000000000000" pitchFamily="2" charset="0"/>
              </a:rPr>
              <a:t>GAP / Kaufpreis-versicherung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Direktabschluss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3989955" y="2388368"/>
            <a:ext cx="373793" cy="323520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2" name="Gruppieren 51"/>
          <p:cNvGrpSpPr/>
          <p:nvPr/>
        </p:nvGrpSpPr>
        <p:grpSpPr>
          <a:xfrm>
            <a:off x="8533253" y="4725692"/>
            <a:ext cx="367113" cy="367113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8533253" y="2401166"/>
            <a:ext cx="351221" cy="352796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8518475" y="3532404"/>
            <a:ext cx="419020" cy="459494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16" name="Group 20"/>
          <p:cNvGrpSpPr>
            <a:grpSpLocks noChangeAspect="1"/>
          </p:cNvGrpSpPr>
          <p:nvPr/>
        </p:nvGrpSpPr>
        <p:grpSpPr bwMode="auto">
          <a:xfrm>
            <a:off x="4118143" y="3581309"/>
            <a:ext cx="323802" cy="334880"/>
            <a:chOff x="1353" y="258"/>
            <a:chExt cx="643" cy="665"/>
          </a:xfrm>
        </p:grpSpPr>
        <p:sp>
          <p:nvSpPr>
            <p:cNvPr id="121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2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3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4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5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7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oup 61"/>
          <p:cNvGrpSpPr>
            <a:grpSpLocks noChangeAspect="1"/>
          </p:cNvGrpSpPr>
          <p:nvPr/>
        </p:nvGrpSpPr>
        <p:grpSpPr bwMode="auto">
          <a:xfrm>
            <a:off x="4136074" y="4716276"/>
            <a:ext cx="298292" cy="298056"/>
            <a:chOff x="5216" y="1821"/>
            <a:chExt cx="1268" cy="1267"/>
          </a:xfrm>
        </p:grpSpPr>
        <p:sp>
          <p:nvSpPr>
            <p:cNvPr id="13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9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1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143" name="Textfeld 142"/>
          <p:cNvSpPr txBox="1"/>
          <p:nvPr/>
        </p:nvSpPr>
        <p:spPr>
          <a:xfrm>
            <a:off x="9222652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" panose="02000000000000000000" pitchFamily="2" charset="0"/>
                <a:ea typeface="Roboto" panose="02000000000000000000" pitchFamily="2" charset="0"/>
              </a:rPr>
              <a:t>Selbstbehalt-Reduzierung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Direktabschluss</a:t>
            </a:r>
          </a:p>
        </p:txBody>
      </p:sp>
      <p:sp>
        <p:nvSpPr>
          <p:cNvPr id="144" name="Textfeld 143"/>
          <p:cNvSpPr txBox="1"/>
          <p:nvPr/>
        </p:nvSpPr>
        <p:spPr>
          <a:xfrm>
            <a:off x="9222652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" panose="02000000000000000000" pitchFamily="2" charset="0"/>
                <a:ea typeface="Roboto" panose="02000000000000000000" pitchFamily="2" charset="0"/>
              </a:rPr>
              <a:t>Sattelzugmaschinen TVM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Anfrage per E-Mail</a:t>
            </a:r>
          </a:p>
        </p:txBody>
      </p:sp>
      <p:sp>
        <p:nvSpPr>
          <p:cNvPr id="145" name="Textfeld 144"/>
          <p:cNvSpPr txBox="1"/>
          <p:nvPr/>
        </p:nvSpPr>
        <p:spPr>
          <a:xfrm>
            <a:off x="1819174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" panose="02000000000000000000" pitchFamily="2" charset="0"/>
                <a:ea typeface="Roboto" panose="02000000000000000000" pitchFamily="2" charset="0"/>
              </a:rPr>
              <a:t>Reparaturkosten-versicherung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Direktabschluss</a:t>
            </a:r>
          </a:p>
        </p:txBody>
      </p:sp>
      <p:sp>
        <p:nvSpPr>
          <p:cNvPr id="146" name="Textfeld 145"/>
          <p:cNvSpPr txBox="1"/>
          <p:nvPr/>
        </p:nvSpPr>
        <p:spPr>
          <a:xfrm>
            <a:off x="1819174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" panose="02000000000000000000" pitchFamily="2" charset="0"/>
                <a:ea typeface="Roboto" panose="02000000000000000000" pitchFamily="2" charset="0"/>
              </a:rPr>
              <a:t>Autotagegeld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Direktabschluss</a:t>
            </a:r>
          </a:p>
        </p:txBody>
      </p:sp>
      <p:sp>
        <p:nvSpPr>
          <p:cNvPr id="147" name="Textfeld 146"/>
          <p:cNvSpPr txBox="1"/>
          <p:nvPr/>
        </p:nvSpPr>
        <p:spPr>
          <a:xfrm>
            <a:off x="1819174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" panose="02000000000000000000" pitchFamily="2" charset="0"/>
                <a:ea typeface="Roboto" panose="02000000000000000000" pitchFamily="2" charset="0"/>
              </a:rPr>
              <a:t>Leasing-Rückgabe Schutz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Direktabschluss</a:t>
            </a:r>
          </a:p>
        </p:txBody>
      </p:sp>
      <p:pic>
        <p:nvPicPr>
          <p:cNvPr id="136" name="Grafik 135"/>
          <p:cNvPicPr>
            <a:picLocks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007826" y="3349579"/>
            <a:ext cx="1182046" cy="1182047"/>
          </a:xfrm>
          <a:prstGeom prst="rect">
            <a:avLst/>
          </a:prstGeom>
        </p:spPr>
      </p:pic>
      <p:pic>
        <p:nvPicPr>
          <p:cNvPr id="137" name="Grafik 136"/>
          <p:cNvPicPr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7007826" y="4630475"/>
            <a:ext cx="1182046" cy="1182047"/>
          </a:xfrm>
          <a:prstGeom prst="rect">
            <a:avLst/>
          </a:prstGeom>
        </p:spPr>
      </p:pic>
      <p:pic>
        <p:nvPicPr>
          <p:cNvPr id="140" name="Grafik 139"/>
          <p:cNvPicPr>
            <a:picLocks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879140" y="3349578"/>
            <a:ext cx="1182046" cy="1182047"/>
          </a:xfrm>
          <a:prstGeom prst="rect">
            <a:avLst/>
          </a:prstGeom>
        </p:spPr>
      </p:pic>
      <p:pic>
        <p:nvPicPr>
          <p:cNvPr id="4" name="Grafik 3"/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879140" y="4630475"/>
            <a:ext cx="1182046" cy="1182047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007826" y="2068683"/>
            <a:ext cx="1182046" cy="1182047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79140" y="2068682"/>
            <a:ext cx="1182047" cy="1182046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4967594" y="3403710"/>
            <a:ext cx="995654" cy="11279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4967594" y="4630471"/>
            <a:ext cx="995654" cy="1155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120623" y="2068682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7120623" y="3359337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4967594" y="2068677"/>
            <a:ext cx="995654" cy="1182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142" name="Textfeld 141"/>
          <p:cNvSpPr txBox="1"/>
          <p:nvPr/>
        </p:nvSpPr>
        <p:spPr>
          <a:xfrm>
            <a:off x="7120623" y="4649994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92465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Projektphasen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348400-D67C-DFF9-D619-AC95290992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5" name="Parallelogramm 104"/>
          <p:cNvSpPr/>
          <p:nvPr/>
        </p:nvSpPr>
        <p:spPr>
          <a:xfrm flipH="1">
            <a:off x="2156320" y="12698720"/>
            <a:ext cx="1912251" cy="638908"/>
          </a:xfrm>
          <a:prstGeom prst="parallelogram">
            <a:avLst/>
          </a:prstGeom>
          <a:gradFill>
            <a:gsLst>
              <a:gs pos="24000">
                <a:srgbClr val="E0E3E7"/>
              </a:gs>
              <a:gs pos="86000">
                <a:srgbClr val="E0E3E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248" name="Textfeld 3247"/>
          <p:cNvSpPr txBox="1"/>
          <p:nvPr/>
        </p:nvSpPr>
        <p:spPr>
          <a:xfrm>
            <a:off x="2148456" y="5808863"/>
            <a:ext cx="1008802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Homepage &amp; RKV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6 Wochen</a:t>
            </a:r>
          </a:p>
        </p:txBody>
      </p:sp>
      <p:sp>
        <p:nvSpPr>
          <p:cNvPr id="3249" name="Textfeld 3248"/>
          <p:cNvSpPr txBox="1"/>
          <p:nvPr/>
        </p:nvSpPr>
        <p:spPr>
          <a:xfrm>
            <a:off x="3685192" y="5341961"/>
            <a:ext cx="1008802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Website Content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2 Wochen</a:t>
            </a:r>
          </a:p>
        </p:txBody>
      </p:sp>
      <p:sp>
        <p:nvSpPr>
          <p:cNvPr id="3250" name="Textfeld 3249"/>
          <p:cNvSpPr txBox="1"/>
          <p:nvPr/>
        </p:nvSpPr>
        <p:spPr>
          <a:xfrm>
            <a:off x="5221928" y="4863497"/>
            <a:ext cx="1016108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Folgeprodukte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4 Wochen</a:t>
            </a:r>
          </a:p>
        </p:txBody>
      </p:sp>
      <p:sp>
        <p:nvSpPr>
          <p:cNvPr id="3251" name="Textfeld 3250"/>
          <p:cNvSpPr txBox="1"/>
          <p:nvPr/>
        </p:nvSpPr>
        <p:spPr>
          <a:xfrm>
            <a:off x="6413951" y="4396594"/>
            <a:ext cx="1061229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Anfrageprodukt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1 Woche</a:t>
            </a:r>
          </a:p>
        </p:txBody>
      </p:sp>
      <p:sp>
        <p:nvSpPr>
          <p:cNvPr id="3252" name="Textfeld 3251"/>
          <p:cNvSpPr txBox="1"/>
          <p:nvPr/>
        </p:nvSpPr>
        <p:spPr>
          <a:xfrm>
            <a:off x="7555239" y="3929691"/>
            <a:ext cx="810099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Deployment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2 Wochen</a:t>
            </a:r>
          </a:p>
        </p:txBody>
      </p:sp>
      <p:sp>
        <p:nvSpPr>
          <p:cNvPr id="3253" name="Textfeld 3252"/>
          <p:cNvSpPr txBox="1"/>
          <p:nvPr/>
        </p:nvSpPr>
        <p:spPr>
          <a:xfrm>
            <a:off x="8442555" y="3462788"/>
            <a:ext cx="941863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Finale Tests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2 Wochen</a:t>
            </a:r>
          </a:p>
        </p:txBody>
      </p:sp>
      <p:sp>
        <p:nvSpPr>
          <p:cNvPr id="91" name="Freihandform 90"/>
          <p:cNvSpPr/>
          <p:nvPr/>
        </p:nvSpPr>
        <p:spPr>
          <a:xfrm>
            <a:off x="2148456" y="5082063"/>
            <a:ext cx="162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3" name="Freihandform 92"/>
          <p:cNvSpPr/>
          <p:nvPr/>
        </p:nvSpPr>
        <p:spPr>
          <a:xfrm>
            <a:off x="3767153" y="4601244"/>
            <a:ext cx="144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bg2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4" name="Freihandform 93"/>
          <p:cNvSpPr/>
          <p:nvPr/>
        </p:nvSpPr>
        <p:spPr>
          <a:xfrm>
            <a:off x="5187139" y="4120425"/>
            <a:ext cx="126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100000">
                  <a:schemeClr val="bg2">
                    <a:lumMod val="60000"/>
                    <a:lumOff val="40000"/>
                  </a:schemeClr>
                </a:gs>
                <a:gs pos="0">
                  <a:schemeClr val="accent6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5" name="Freihandform 94"/>
          <p:cNvSpPr/>
          <p:nvPr/>
        </p:nvSpPr>
        <p:spPr>
          <a:xfrm>
            <a:off x="6441845" y="3638718"/>
            <a:ext cx="108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6" name="Freihandform 95"/>
          <p:cNvSpPr/>
          <p:nvPr/>
        </p:nvSpPr>
        <p:spPr>
          <a:xfrm>
            <a:off x="7504387" y="3157899"/>
            <a:ext cx="90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Ellipse 2"/>
          <p:cNvSpPr/>
          <p:nvPr/>
        </p:nvSpPr>
        <p:spPr>
          <a:xfrm>
            <a:off x="2104172" y="5500054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2104172" y="531183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1" name="Ellipse 80"/>
          <p:cNvSpPr/>
          <p:nvPr/>
        </p:nvSpPr>
        <p:spPr>
          <a:xfrm>
            <a:off x="2104172" y="512361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2" name="Ellipse 81"/>
          <p:cNvSpPr/>
          <p:nvPr/>
        </p:nvSpPr>
        <p:spPr>
          <a:xfrm>
            <a:off x="2104172" y="493540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3" name="Ellipse 82"/>
          <p:cNvSpPr/>
          <p:nvPr/>
        </p:nvSpPr>
        <p:spPr>
          <a:xfrm>
            <a:off x="2104172" y="474718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4" name="Ellipse 83"/>
          <p:cNvSpPr/>
          <p:nvPr/>
        </p:nvSpPr>
        <p:spPr>
          <a:xfrm>
            <a:off x="2104172" y="455896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5" name="Ellipse 84"/>
          <p:cNvSpPr/>
          <p:nvPr/>
        </p:nvSpPr>
        <p:spPr>
          <a:xfrm>
            <a:off x="2104172" y="437075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6" name="Ellipse 85"/>
          <p:cNvSpPr/>
          <p:nvPr/>
        </p:nvSpPr>
        <p:spPr>
          <a:xfrm>
            <a:off x="2104172" y="418253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7" name="Ellipse 86"/>
          <p:cNvSpPr/>
          <p:nvPr/>
        </p:nvSpPr>
        <p:spPr>
          <a:xfrm>
            <a:off x="2104172" y="399431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8" name="Ellipse 87"/>
          <p:cNvSpPr/>
          <p:nvPr/>
        </p:nvSpPr>
        <p:spPr>
          <a:xfrm>
            <a:off x="2104172" y="380610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9" name="Ellipse 88"/>
          <p:cNvSpPr/>
          <p:nvPr/>
        </p:nvSpPr>
        <p:spPr>
          <a:xfrm>
            <a:off x="2104172" y="361788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0" name="Ellipse 89"/>
          <p:cNvSpPr/>
          <p:nvPr/>
        </p:nvSpPr>
        <p:spPr>
          <a:xfrm>
            <a:off x="2104172" y="342966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2" name="Ellipse 91"/>
          <p:cNvSpPr/>
          <p:nvPr/>
        </p:nvSpPr>
        <p:spPr>
          <a:xfrm>
            <a:off x="3730686" y="5010283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7" name="Ellipse 96"/>
          <p:cNvSpPr/>
          <p:nvPr/>
        </p:nvSpPr>
        <p:spPr>
          <a:xfrm>
            <a:off x="3730686" y="482206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8" name="Ellipse 97"/>
          <p:cNvSpPr/>
          <p:nvPr/>
        </p:nvSpPr>
        <p:spPr>
          <a:xfrm>
            <a:off x="3730686" y="463384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9" name="Ellipse 98"/>
          <p:cNvSpPr/>
          <p:nvPr/>
        </p:nvSpPr>
        <p:spPr>
          <a:xfrm>
            <a:off x="3730686" y="444563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0" name="Ellipse 99"/>
          <p:cNvSpPr/>
          <p:nvPr/>
        </p:nvSpPr>
        <p:spPr>
          <a:xfrm>
            <a:off x="3730686" y="425741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1" name="Ellipse 100"/>
          <p:cNvSpPr/>
          <p:nvPr/>
        </p:nvSpPr>
        <p:spPr>
          <a:xfrm>
            <a:off x="3730686" y="406919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2" name="Ellipse 101"/>
          <p:cNvSpPr/>
          <p:nvPr/>
        </p:nvSpPr>
        <p:spPr>
          <a:xfrm>
            <a:off x="3730686" y="388098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3" name="Ellipse 102"/>
          <p:cNvSpPr/>
          <p:nvPr/>
        </p:nvSpPr>
        <p:spPr>
          <a:xfrm>
            <a:off x="3730686" y="369276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4" name="Ellipse 103"/>
          <p:cNvSpPr/>
          <p:nvPr/>
        </p:nvSpPr>
        <p:spPr>
          <a:xfrm>
            <a:off x="3730686" y="350454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6" name="Ellipse 105"/>
          <p:cNvSpPr/>
          <p:nvPr/>
        </p:nvSpPr>
        <p:spPr>
          <a:xfrm>
            <a:off x="3730686" y="331632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9" name="Ellipse 108"/>
          <p:cNvSpPr/>
          <p:nvPr/>
        </p:nvSpPr>
        <p:spPr>
          <a:xfrm>
            <a:off x="5145033" y="4534129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0" name="Ellipse 109"/>
          <p:cNvSpPr/>
          <p:nvPr/>
        </p:nvSpPr>
        <p:spPr>
          <a:xfrm>
            <a:off x="5145033" y="434591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1" name="Ellipse 110"/>
          <p:cNvSpPr/>
          <p:nvPr/>
        </p:nvSpPr>
        <p:spPr>
          <a:xfrm>
            <a:off x="5145033" y="415769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2" name="Ellipse 111"/>
          <p:cNvSpPr/>
          <p:nvPr/>
        </p:nvSpPr>
        <p:spPr>
          <a:xfrm>
            <a:off x="5145033" y="396947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3" name="Ellipse 112"/>
          <p:cNvSpPr/>
          <p:nvPr/>
        </p:nvSpPr>
        <p:spPr>
          <a:xfrm>
            <a:off x="5145033" y="378126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4" name="Ellipse 113"/>
          <p:cNvSpPr/>
          <p:nvPr/>
        </p:nvSpPr>
        <p:spPr>
          <a:xfrm>
            <a:off x="5145033" y="359304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5" name="Ellipse 114"/>
          <p:cNvSpPr/>
          <p:nvPr/>
        </p:nvSpPr>
        <p:spPr>
          <a:xfrm>
            <a:off x="5145033" y="340482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6" name="Ellipse 115"/>
          <p:cNvSpPr/>
          <p:nvPr/>
        </p:nvSpPr>
        <p:spPr>
          <a:xfrm>
            <a:off x="5145033" y="321660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5145033" y="302839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1" name="Ellipse 120"/>
          <p:cNvSpPr/>
          <p:nvPr/>
        </p:nvSpPr>
        <p:spPr>
          <a:xfrm>
            <a:off x="6403853" y="4049075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2" name="Ellipse 121"/>
          <p:cNvSpPr/>
          <p:nvPr/>
        </p:nvSpPr>
        <p:spPr>
          <a:xfrm>
            <a:off x="6403853" y="386085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6403853" y="367264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6403853" y="348442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6403853" y="329620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0" name="Ellipse 129"/>
          <p:cNvSpPr/>
          <p:nvPr/>
        </p:nvSpPr>
        <p:spPr>
          <a:xfrm>
            <a:off x="6403853" y="310798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3" name="Ellipse 132"/>
          <p:cNvSpPr/>
          <p:nvPr/>
        </p:nvSpPr>
        <p:spPr>
          <a:xfrm>
            <a:off x="6403853" y="291977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4" name="Ellipse 133"/>
          <p:cNvSpPr/>
          <p:nvPr/>
        </p:nvSpPr>
        <p:spPr>
          <a:xfrm>
            <a:off x="6403853" y="273155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3" name="Ellipse 142"/>
          <p:cNvSpPr/>
          <p:nvPr/>
        </p:nvSpPr>
        <p:spPr>
          <a:xfrm>
            <a:off x="7475180" y="3572260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7475180" y="338404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7475180" y="319582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7475180" y="300760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7475180" y="281939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7475180" y="263117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5" name="Ellipse 154"/>
          <p:cNvSpPr/>
          <p:nvPr/>
        </p:nvSpPr>
        <p:spPr>
          <a:xfrm>
            <a:off x="8322454" y="3103854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6" name="Ellipse 155"/>
          <p:cNvSpPr/>
          <p:nvPr/>
        </p:nvSpPr>
        <p:spPr>
          <a:xfrm>
            <a:off x="8322454" y="291563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7" name="Ellipse 156"/>
          <p:cNvSpPr/>
          <p:nvPr/>
        </p:nvSpPr>
        <p:spPr>
          <a:xfrm>
            <a:off x="8322454" y="272741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8" name="Ellipse 157"/>
          <p:cNvSpPr/>
          <p:nvPr/>
        </p:nvSpPr>
        <p:spPr>
          <a:xfrm>
            <a:off x="8322454" y="253920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1819174" y="2871725"/>
            <a:ext cx="720000" cy="720000"/>
          </a:xfrm>
          <a:prstGeom prst="ellipse">
            <a:avLst/>
          </a:prstGeom>
          <a:solidFill>
            <a:srgbClr val="96CC1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2400" b="1" dirty="0"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124" name="Ellipse 123"/>
          <p:cNvSpPr/>
          <p:nvPr/>
        </p:nvSpPr>
        <p:spPr>
          <a:xfrm>
            <a:off x="3489955" y="2656690"/>
            <a:ext cx="648000" cy="648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28" name="Ellipse 127"/>
          <p:cNvSpPr/>
          <p:nvPr/>
        </p:nvSpPr>
        <p:spPr>
          <a:xfrm>
            <a:off x="4902840" y="2432348"/>
            <a:ext cx="576000" cy="5760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b="1" dirty="0"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32" name="Ellipse 131"/>
          <p:cNvSpPr/>
          <p:nvPr/>
        </p:nvSpPr>
        <p:spPr>
          <a:xfrm>
            <a:off x="6212104" y="2259975"/>
            <a:ext cx="504000" cy="50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600" b="1" dirty="0"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36" name="Ellipse 135"/>
          <p:cNvSpPr/>
          <p:nvPr/>
        </p:nvSpPr>
        <p:spPr>
          <a:xfrm>
            <a:off x="7305845" y="2133335"/>
            <a:ext cx="432000" cy="43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400" b="1" dirty="0"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140" name="Ellipse 139"/>
          <p:cNvSpPr/>
          <p:nvPr/>
        </p:nvSpPr>
        <p:spPr>
          <a:xfrm>
            <a:off x="8202705" y="2060848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200" b="1" dirty="0"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55298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Projekt-Kennzahlen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A111FB2-249F-3F3D-59C3-E313FE3AA9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2150599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rgbClr val="06B8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122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2150599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>
                <a:latin typeface="Roboto" panose="02000000000000000000" pitchFamily="2" charset="0"/>
              </a:rPr>
              <a:t>Personentage geschätzter Gesamtaufwand für alle 6 Projektphasen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5597829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rgbClr val="76A01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16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5597829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>
                <a:latin typeface="Roboto" panose="02000000000000000000" pitchFamily="2" charset="0"/>
              </a:rPr>
              <a:t>Wochen Projektlaufzeit — komprimierbar auf ca. 13 Wochen bei Phasenüberlappung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9045060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6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9045060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>
                <a:latin typeface="Roboto" panose="02000000000000000000" pitchFamily="2" charset="0"/>
              </a:rPr>
              <a:t>Versicherungsprodukte: 5 Direktabschluss und 1 Anfrageprodukt mit Credit Life Integration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1819174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7" name="Abgerundetes Rechteck 16"/>
          <p:cNvSpPr/>
          <p:nvPr/>
        </p:nvSpPr>
        <p:spPr>
          <a:xfrm>
            <a:off x="5296665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8718738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348628"/>
      </p:ext>
    </p:extLst>
  </p:cSld>
  <p:clrMapOvr>
    <a:masterClrMapping/>
  </p:clrMapOvr>
</p:sld>
</file>

<file path=ppt/theme/theme1.xml><?xml version="1.0" encoding="utf-8"?>
<a:theme xmlns:a="http://schemas.openxmlformats.org/drawingml/2006/main" name="mgm Master">
  <a:themeElements>
    <a:clrScheme name="mgm 2023">
      <a:dk1>
        <a:srgbClr val="000000"/>
      </a:dk1>
      <a:lt1>
        <a:srgbClr val="FFFFFF"/>
      </a:lt1>
      <a:dk2>
        <a:srgbClr val="207475"/>
      </a:dk2>
      <a:lt2>
        <a:srgbClr val="047FA3"/>
      </a:lt2>
      <a:accent1>
        <a:srgbClr val="5E8013"/>
      </a:accent1>
      <a:accent2>
        <a:srgbClr val="7E6703"/>
      </a:accent2>
      <a:accent3>
        <a:srgbClr val="B83403"/>
      </a:accent3>
      <a:accent4>
        <a:srgbClr val="A0012C"/>
      </a:accent4>
      <a:accent5>
        <a:srgbClr val="6A287D"/>
      </a:accent5>
      <a:accent6>
        <a:srgbClr val="1D4E86"/>
      </a:accent6>
      <a:hlink>
        <a:srgbClr val="1D4E86"/>
      </a:hlink>
      <a:folHlink>
        <a:srgbClr val="1D4E86"/>
      </a:folHlink>
    </a:clrScheme>
    <a:fontScheme name="Benutzerdefiniert 1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marL="0" indent="0" algn="ctr">
          <a:buNone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None/>
          <a:defRPr/>
        </a:defPPr>
      </a:lstStyle>
    </a:txDef>
  </a:objectDefaults>
  <a:extraClrSchemeLst>
    <a:extraClrScheme>
      <a:clrScheme name="mgm 2023">
        <a:dk1>
          <a:srgbClr val="000000"/>
        </a:dk1>
        <a:lt1>
          <a:srgbClr val="FFFFFF"/>
        </a:lt1>
        <a:dk2>
          <a:srgbClr val="207475"/>
        </a:dk2>
        <a:lt2>
          <a:srgbClr val="047FA3"/>
        </a:lt2>
        <a:accent1>
          <a:srgbClr val="5E8013"/>
        </a:accent1>
        <a:accent2>
          <a:srgbClr val="7E6703"/>
        </a:accent2>
        <a:accent3>
          <a:srgbClr val="B83403"/>
        </a:accent3>
        <a:accent4>
          <a:srgbClr val="A0012C"/>
        </a:accent4>
        <a:accent5>
          <a:srgbClr val="6A287D"/>
        </a:accent5>
        <a:accent6>
          <a:srgbClr val="1D4E86"/>
        </a:accent6>
        <a:hlink>
          <a:srgbClr val="1D4E86"/>
        </a:hlink>
        <a:folHlink>
          <a:srgbClr val="1D4E86"/>
        </a:folHlink>
      </a:clrScheme>
    </a:extraClrScheme>
  </a:extraClrSchemeLst>
  <a:custClrLst>
    <a:custClr name="mgm Gray 1">
      <a:srgbClr val="F0F2F4"/>
    </a:custClr>
    <a:custClr name="mgm Gray 2">
      <a:srgbClr val="E0E3E7"/>
    </a:custClr>
    <a:custClr name="mgm Gray 3">
      <a:srgbClr val="68778C"/>
    </a:custClr>
    <a:custClr name="mgm Gray 4">
      <a:srgbClr val="4E5A68"/>
    </a:custClr>
  </a:custClrLst>
  <a:extLst>
    <a:ext uri="{05A4C25C-085E-4340-85A3-A5531E510DB2}">
      <thm15:themeFamily xmlns:thm15="http://schemas.microsoft.com/office/thememl/2012/main" name="mgm-Template-2023_with sample slides.potx" id="{F2F743F7-CE81-41D7-AAD6-6A6869CD81F2}" vid="{F60207B9-C30B-4174-B1AA-106068C6107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4640</Words>
  <Application>Microsoft Macintosh PowerPoint</Application>
  <PresentationFormat>Breitbild</PresentationFormat>
  <Paragraphs>496</Paragraphs>
  <Slides>46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46</vt:i4>
      </vt:variant>
    </vt:vector>
  </HeadingPairs>
  <TitlesOfParts>
    <vt:vector size="52" baseType="lpstr">
      <vt:lpstr>Wingdings</vt:lpstr>
      <vt:lpstr>Roboto</vt:lpstr>
      <vt:lpstr>Roboto Black</vt:lpstr>
      <vt:lpstr>Arial</vt:lpstr>
      <vt:lpstr>Calibri</vt:lpstr>
      <vt:lpstr>mgm Master</vt:lpstr>
      <vt:lpstr>mgm tp/sp/ip title</vt:lpstr>
      <vt:lpstr>PowerPoint-Präsentation</vt:lpstr>
      <vt:lpstr>PowerPoint-Präsentation</vt:lpstr>
      <vt:lpstr>Icons</vt:lpstr>
      <vt:lpstr>Lorem ipsum dolor sit amet, consectetuer adipiscing elit</vt:lpstr>
      <vt:lpstr>Agenda</vt:lpstr>
      <vt:lpstr>Agenda</vt:lpstr>
      <vt:lpstr>Chapter 1: Introduction</vt:lpstr>
      <vt:lpstr>Table</vt:lpstr>
      <vt:lpstr>Lorem ipsum dolor sit amet, consectetuer adipiscing elit</vt:lpstr>
      <vt:lpstr>Lorem ipsum dolor sit amet, consectetuer adipiscing</vt:lpstr>
      <vt:lpstr>Lorem ipsum dolor sit amet, consectetuer adipiscing elit</vt:lpstr>
      <vt:lpstr>Lorem ipsum dolor sit amet</vt:lpstr>
      <vt:lpstr>Aenean massa cum sociis nato que penatibus et magnis dis.</vt:lpstr>
      <vt:lpstr>Aenean massa cum sociis nato que penatibus et magnis dis.</vt:lpstr>
      <vt:lpstr>Lorem ipsum dolor </vt:lpstr>
      <vt:lpstr>„Nulla consequat massa quis enim. Donec pede justo, fringilla vel.“</vt:lpstr>
      <vt:lpstr>Enterprise software projects </vt:lpstr>
      <vt:lpstr>Infographics</vt:lpstr>
      <vt:lpstr>Table</vt:lpstr>
      <vt:lpstr>Maecenas tempus, tellus eget</vt:lpstr>
      <vt:lpstr>Maecenas tempus, tellus eget</vt:lpstr>
      <vt:lpstr>Maecenas tempus, tellus eget</vt:lpstr>
      <vt:lpstr>Aenean commodo ligu eget dolor</vt:lpstr>
      <vt:lpstr>Nulla consequat massa quis enim </vt:lpstr>
      <vt:lpstr>Steps</vt:lpstr>
      <vt:lpstr>Nulla consequat massa quis enim </vt:lpstr>
      <vt:lpstr>Consequat massa quis enim </vt:lpstr>
      <vt:lpstr>Steps: Nulla consequat massa quis enim </vt:lpstr>
      <vt:lpstr>Steps: Nulla consequat massa quis enim </vt:lpstr>
      <vt:lpstr>Consequat massa quis enim </vt:lpstr>
      <vt:lpstr>Consequat massa quis enim </vt:lpstr>
      <vt:lpstr>Lorem ipsum dolor sit amet, consectetuer </vt:lpstr>
      <vt:lpstr>Nulla consequat massa quis </vt:lpstr>
      <vt:lpstr>Project goals</vt:lpstr>
      <vt:lpstr>Nulla consequat massa quis </vt:lpstr>
      <vt:lpstr>Team</vt:lpstr>
      <vt:lpstr>Team</vt:lpstr>
      <vt:lpstr>Timeline</vt:lpstr>
      <vt:lpstr>Timeline</vt:lpstr>
      <vt:lpstr>Timeline</vt:lpstr>
      <vt:lpstr>Timeline</vt:lpstr>
      <vt:lpstr>Aenean com modo </vt:lpstr>
      <vt:lpstr>Aenean com modo </vt:lpstr>
      <vt:lpstr>Chapter 1 Dolor sit amet, consectetuer adipiscing elit.  </vt:lpstr>
      <vt:lpstr>PowerPoint-Präsentation</vt:lpstr>
    </vt:vector>
  </TitlesOfParts>
  <Company>mgm technology partners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Dietmar Schmidt</dc:creator>
  <cp:lastModifiedBy>Ansgar Knipschild</cp:lastModifiedBy>
  <cp:revision>231</cp:revision>
  <dcterms:created xsi:type="dcterms:W3CDTF">2023-03-17T12:25:06Z</dcterms:created>
  <dcterms:modified xsi:type="dcterms:W3CDTF">2026-01-27T12:58:24Z</dcterms:modified>
</cp:coreProperties>
</file>